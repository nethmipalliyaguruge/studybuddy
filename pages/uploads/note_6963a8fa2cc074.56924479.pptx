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8288000" cy="10287000"/>
  <p:notesSz cx="6858000" cy="9144000"/>
  <p:embeddedFontLst>
    <p:embeddedFont>
      <p:font typeface="Calibri" panose="020F0502020204030204" pitchFamily="34" charset="0"/>
      <p:regular r:id="rId35"/>
      <p:bold r:id="rId36"/>
      <p:italic r:id="rId37"/>
      <p:boldItalic r:id="rId38"/>
    </p:embeddedFont>
    <p:embeddedFont>
      <p:font typeface="Canva Sans" panose="020B0604020202020204" charset="0"/>
      <p:regular r:id="rId39"/>
    </p:embeddedFont>
    <p:embeddedFont>
      <p:font typeface="Canva Sans Bold" panose="020B0604020202020204" charset="0"/>
      <p:regular r:id="rId40"/>
    </p:embeddedFont>
    <p:embeddedFont>
      <p:font typeface="Gotham Bold" panose="020B0604020202020204" charset="0"/>
      <p:regular r:id="rId41"/>
    </p:embeddedFont>
    <p:embeddedFont>
      <p:font typeface="ITC Avant Garde Gothic Bold" panose="020B0604020202020204" charset="0"/>
      <p:regular r:id="rId42"/>
    </p:embeddedFont>
    <p:embeddedFont>
      <p:font typeface="ITC Avant Garde Gothic Bold Italics" panose="020B0604020202020204" charset="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8.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sv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9.sv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9.sv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9.sv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9.sv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9.sv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9.sv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sv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9.sv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9.sv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9.sv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9.sv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9.sv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9.sv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9.sv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9.sv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9.sv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9.sv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9.sv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9.sv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9.sv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9.sv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grpSp>
        <p:nvGrpSpPr>
          <p:cNvPr id="2" name="Group 2"/>
          <p:cNvGrpSpPr/>
          <p:nvPr/>
        </p:nvGrpSpPr>
        <p:grpSpPr>
          <a:xfrm>
            <a:off x="576263" y="569459"/>
            <a:ext cx="17135475" cy="9148082"/>
            <a:chOff x="0" y="0"/>
            <a:chExt cx="4513047" cy="2409371"/>
          </a:xfrm>
        </p:grpSpPr>
        <p:sp>
          <p:nvSpPr>
            <p:cNvPr id="3" name="Freeform 3"/>
            <p:cNvSpPr/>
            <p:nvPr/>
          </p:nvSpPr>
          <p:spPr>
            <a:xfrm>
              <a:off x="0" y="0"/>
              <a:ext cx="4513047" cy="2409371"/>
            </a:xfrm>
            <a:custGeom>
              <a:avLst/>
              <a:gdLst/>
              <a:ahLst/>
              <a:cxnLst/>
              <a:rect l="l" t="t" r="r" b="b"/>
              <a:pathLst>
                <a:path w="4513047" h="2409371">
                  <a:moveTo>
                    <a:pt x="0" y="0"/>
                  </a:moveTo>
                  <a:lnTo>
                    <a:pt x="4513047" y="0"/>
                  </a:lnTo>
                  <a:lnTo>
                    <a:pt x="4513047" y="2409371"/>
                  </a:lnTo>
                  <a:lnTo>
                    <a:pt x="0" y="2409371"/>
                  </a:lnTo>
                  <a:close/>
                </a:path>
              </a:pathLst>
            </a:custGeom>
            <a:solidFill>
              <a:srgbClr val="000000">
                <a:alpha val="0"/>
              </a:srgbClr>
            </a:solidFill>
            <a:ln w="19050" cap="sq">
              <a:solidFill>
                <a:srgbClr val="404040"/>
              </a:solidFill>
              <a:prstDash val="solid"/>
              <a:miter/>
            </a:ln>
          </p:spPr>
        </p:sp>
        <p:sp>
          <p:nvSpPr>
            <p:cNvPr id="4" name="TextBox 4"/>
            <p:cNvSpPr txBox="1"/>
            <p:nvPr/>
          </p:nvSpPr>
          <p:spPr>
            <a:xfrm>
              <a:off x="0" y="-28575"/>
              <a:ext cx="4513047" cy="2437946"/>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1466755" y="6300670"/>
            <a:ext cx="10678886" cy="1012763"/>
            <a:chOff x="0" y="0"/>
            <a:chExt cx="2812546" cy="266736"/>
          </a:xfrm>
        </p:grpSpPr>
        <p:sp>
          <p:nvSpPr>
            <p:cNvPr id="6" name="Freeform 6"/>
            <p:cNvSpPr/>
            <p:nvPr/>
          </p:nvSpPr>
          <p:spPr>
            <a:xfrm>
              <a:off x="0" y="0"/>
              <a:ext cx="2812546" cy="266736"/>
            </a:xfrm>
            <a:custGeom>
              <a:avLst/>
              <a:gdLst/>
              <a:ahLst/>
              <a:cxnLst/>
              <a:rect l="l" t="t" r="r" b="b"/>
              <a:pathLst>
                <a:path w="2812546" h="266736">
                  <a:moveTo>
                    <a:pt x="0" y="0"/>
                  </a:moveTo>
                  <a:lnTo>
                    <a:pt x="2812546" y="0"/>
                  </a:lnTo>
                  <a:lnTo>
                    <a:pt x="2812546" y="266736"/>
                  </a:lnTo>
                  <a:lnTo>
                    <a:pt x="0" y="266736"/>
                  </a:lnTo>
                  <a:close/>
                </a:path>
              </a:pathLst>
            </a:custGeom>
            <a:solidFill>
              <a:srgbClr val="F8DF8C"/>
            </a:solidFill>
          </p:spPr>
        </p:sp>
        <p:sp>
          <p:nvSpPr>
            <p:cNvPr id="7" name="TextBox 7"/>
            <p:cNvSpPr txBox="1"/>
            <p:nvPr/>
          </p:nvSpPr>
          <p:spPr>
            <a:xfrm>
              <a:off x="0" y="-28575"/>
              <a:ext cx="2812546" cy="295311"/>
            </a:xfrm>
            <a:prstGeom prst="rect">
              <a:avLst/>
            </a:prstGeom>
          </p:spPr>
          <p:txBody>
            <a:bodyPr lIns="50800" tIns="50800" rIns="50800" bIns="50800" rtlCol="0" anchor="ctr"/>
            <a:lstStyle/>
            <a:p>
              <a:pPr algn="ctr">
                <a:lnSpc>
                  <a:spcPts val="1960"/>
                </a:lnSpc>
              </a:pPr>
              <a:endParaRPr/>
            </a:p>
          </p:txBody>
        </p:sp>
      </p:grpSp>
      <p:sp>
        <p:nvSpPr>
          <p:cNvPr id="8" name="Freeform 8"/>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630150" y="4243270"/>
            <a:ext cx="4629150" cy="4114800"/>
          </a:xfrm>
          <a:custGeom>
            <a:avLst/>
            <a:gdLst/>
            <a:ahLst/>
            <a:cxnLst/>
            <a:rect l="l" t="t" r="r" b="b"/>
            <a:pathLst>
              <a:path w="4629150" h="4114800">
                <a:moveTo>
                  <a:pt x="0" y="0"/>
                </a:moveTo>
                <a:lnTo>
                  <a:pt x="4629150" y="0"/>
                </a:lnTo>
                <a:lnTo>
                  <a:pt x="46291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576263" y="4233745"/>
            <a:ext cx="12476332" cy="1701228"/>
          </a:xfrm>
          <a:prstGeom prst="rect">
            <a:avLst/>
          </a:prstGeom>
        </p:spPr>
        <p:txBody>
          <a:bodyPr lIns="0" tIns="0" rIns="0" bIns="0" rtlCol="0" anchor="t">
            <a:spAutoFit/>
          </a:bodyPr>
          <a:lstStyle/>
          <a:p>
            <a:pPr marL="0" lvl="0" indent="0" algn="ctr">
              <a:lnSpc>
                <a:spcPts val="11101"/>
              </a:lnSpc>
            </a:pPr>
            <a:r>
              <a:rPr lang="en-US" sz="11101" b="1">
                <a:solidFill>
                  <a:srgbClr val="404040"/>
                </a:solidFill>
                <a:latin typeface="ITC Avant Garde Gothic Bold"/>
                <a:ea typeface="ITC Avant Garde Gothic Bold"/>
                <a:cs typeface="ITC Avant Garde Gothic Bold"/>
                <a:sym typeface="ITC Avant Garde Gothic Bold"/>
              </a:rPr>
              <a:t>TREE </a:t>
            </a:r>
          </a:p>
        </p:txBody>
      </p:sp>
      <p:sp>
        <p:nvSpPr>
          <p:cNvPr id="12" name="TextBox 12"/>
          <p:cNvSpPr txBox="1"/>
          <p:nvPr/>
        </p:nvSpPr>
        <p:spPr>
          <a:xfrm>
            <a:off x="2241711" y="6135559"/>
            <a:ext cx="9128975" cy="1428710"/>
          </a:xfrm>
          <a:prstGeom prst="rect">
            <a:avLst/>
          </a:prstGeom>
        </p:spPr>
        <p:txBody>
          <a:bodyPr lIns="0" tIns="0" rIns="0" bIns="0" rtlCol="0" anchor="t">
            <a:spAutoFit/>
          </a:bodyPr>
          <a:lstStyle/>
          <a:p>
            <a:pPr marL="0" lvl="0" indent="0" algn="ctr">
              <a:lnSpc>
                <a:spcPts val="8999"/>
              </a:lnSpc>
              <a:spcBef>
                <a:spcPct val="0"/>
              </a:spcBef>
            </a:pPr>
            <a:r>
              <a:rPr lang="en-US" sz="9999" b="1" i="1" spc="-199">
                <a:solidFill>
                  <a:srgbClr val="404040"/>
                </a:solidFill>
                <a:latin typeface="ITC Avant Garde Gothic Bold Italics"/>
                <a:ea typeface="ITC Avant Garde Gothic Bold Italics"/>
                <a:cs typeface="ITC Avant Garde Gothic Bold Italics"/>
                <a:sym typeface="ITC Avant Garde Gothic Bold Italics"/>
              </a:rPr>
              <a:t>Data Structure</a:t>
            </a:r>
          </a:p>
        </p:txBody>
      </p:sp>
      <p:sp>
        <p:nvSpPr>
          <p:cNvPr id="13" name="TextBox 13"/>
          <p:cNvSpPr txBox="1"/>
          <p:nvPr/>
        </p:nvSpPr>
        <p:spPr>
          <a:xfrm>
            <a:off x="2543042" y="866701"/>
            <a:ext cx="15168695" cy="581387"/>
          </a:xfrm>
          <a:prstGeom prst="rect">
            <a:avLst/>
          </a:prstGeom>
        </p:spPr>
        <p:txBody>
          <a:bodyPr lIns="0" tIns="0" rIns="0" bIns="0" rtlCol="0" anchor="t">
            <a:spAutoFit/>
          </a:bodyPr>
          <a:lstStyle/>
          <a:p>
            <a:pPr algn="ctr">
              <a:lnSpc>
                <a:spcPts val="4657"/>
              </a:lnSpc>
              <a:spcBef>
                <a:spcPct val="0"/>
              </a:spcBef>
            </a:pPr>
            <a:r>
              <a:rPr lang="en-US" sz="3326" b="1" spc="665">
                <a:solidFill>
                  <a:srgbClr val="404040"/>
                </a:solidFill>
                <a:latin typeface="Gotham Bold"/>
                <a:ea typeface="Gotham Bold"/>
                <a:cs typeface="Gotham Bold"/>
                <a:sym typeface="Gotham Bold"/>
              </a:rPr>
              <a:t>WEEK 07:DATABASES AND DATA STRUCTURES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grpSp>
        <p:nvGrpSpPr>
          <p:cNvPr id="2" name="Group 2"/>
          <p:cNvGrpSpPr/>
          <p:nvPr/>
        </p:nvGrpSpPr>
        <p:grpSpPr>
          <a:xfrm>
            <a:off x="0" y="608469"/>
            <a:ext cx="3920048" cy="1301386"/>
            <a:chOff x="0" y="0"/>
            <a:chExt cx="841103" cy="279231"/>
          </a:xfrm>
        </p:grpSpPr>
        <p:sp>
          <p:nvSpPr>
            <p:cNvPr id="3" name="Freeform 3"/>
            <p:cNvSpPr/>
            <p:nvPr/>
          </p:nvSpPr>
          <p:spPr>
            <a:xfrm>
              <a:off x="0" y="0"/>
              <a:ext cx="841103" cy="279231"/>
            </a:xfrm>
            <a:custGeom>
              <a:avLst/>
              <a:gdLst/>
              <a:ahLst/>
              <a:cxnLst/>
              <a:rect l="l" t="t" r="r" b="b"/>
              <a:pathLst>
                <a:path w="841103" h="279231">
                  <a:moveTo>
                    <a:pt x="0" y="0"/>
                  </a:moveTo>
                  <a:lnTo>
                    <a:pt x="841103" y="0"/>
                  </a:lnTo>
                  <a:lnTo>
                    <a:pt x="841103" y="279231"/>
                  </a:lnTo>
                  <a:lnTo>
                    <a:pt x="0" y="279231"/>
                  </a:lnTo>
                  <a:close/>
                </a:path>
              </a:pathLst>
            </a:custGeom>
            <a:solidFill>
              <a:srgbClr val="A2A2E1"/>
            </a:solidFill>
          </p:spPr>
        </p:sp>
        <p:sp>
          <p:nvSpPr>
            <p:cNvPr id="4" name="TextBox 4"/>
            <p:cNvSpPr txBox="1"/>
            <p:nvPr/>
          </p:nvSpPr>
          <p:spPr>
            <a:xfrm>
              <a:off x="0" y="-28575"/>
              <a:ext cx="841103" cy="307806"/>
            </a:xfrm>
            <a:prstGeom prst="rect">
              <a:avLst/>
            </a:prstGeom>
          </p:spPr>
          <p:txBody>
            <a:bodyPr lIns="50800" tIns="50800" rIns="50800" bIns="50800" rtlCol="0" anchor="ctr"/>
            <a:lstStyle/>
            <a:p>
              <a:pPr algn="ctr">
                <a:lnSpc>
                  <a:spcPts val="1960"/>
                </a:lnSpc>
                <a:spcBef>
                  <a:spcPct val="0"/>
                </a:spcBef>
              </a:pPr>
              <a:endParaRPr/>
            </a:p>
          </p:txBody>
        </p:sp>
      </p:grpSp>
      <p:sp>
        <p:nvSpPr>
          <p:cNvPr id="5" name="Freeform 5"/>
          <p:cNvSpPr/>
          <p:nvPr/>
        </p:nvSpPr>
        <p:spPr>
          <a:xfrm>
            <a:off x="3920048" y="608469"/>
            <a:ext cx="1301386" cy="3890944"/>
          </a:xfrm>
          <a:custGeom>
            <a:avLst/>
            <a:gdLst/>
            <a:ahLst/>
            <a:cxnLst/>
            <a:rect l="l" t="t" r="r" b="b"/>
            <a:pathLst>
              <a:path w="1301386" h="3890944">
                <a:moveTo>
                  <a:pt x="0" y="0"/>
                </a:moveTo>
                <a:lnTo>
                  <a:pt x="1301386" y="0"/>
                </a:lnTo>
                <a:lnTo>
                  <a:pt x="1301386" y="3890944"/>
                </a:lnTo>
                <a:lnTo>
                  <a:pt x="0" y="38909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5221434" y="3198028"/>
            <a:ext cx="3288315" cy="1301386"/>
            <a:chOff x="0" y="0"/>
            <a:chExt cx="705556" cy="279231"/>
          </a:xfrm>
        </p:grpSpPr>
        <p:sp>
          <p:nvSpPr>
            <p:cNvPr id="7" name="Freeform 7"/>
            <p:cNvSpPr/>
            <p:nvPr/>
          </p:nvSpPr>
          <p:spPr>
            <a:xfrm>
              <a:off x="0" y="0"/>
              <a:ext cx="705556" cy="279231"/>
            </a:xfrm>
            <a:custGeom>
              <a:avLst/>
              <a:gdLst/>
              <a:ahLst/>
              <a:cxnLst/>
              <a:rect l="l" t="t" r="r" b="b"/>
              <a:pathLst>
                <a:path w="705556" h="279231">
                  <a:moveTo>
                    <a:pt x="0" y="0"/>
                  </a:moveTo>
                  <a:lnTo>
                    <a:pt x="705556" y="0"/>
                  </a:lnTo>
                  <a:lnTo>
                    <a:pt x="705556" y="279231"/>
                  </a:lnTo>
                  <a:lnTo>
                    <a:pt x="0" y="279231"/>
                  </a:lnTo>
                  <a:close/>
                </a:path>
              </a:pathLst>
            </a:custGeom>
            <a:solidFill>
              <a:srgbClr val="F6D682"/>
            </a:solidFill>
          </p:spPr>
        </p:sp>
        <p:sp>
          <p:nvSpPr>
            <p:cNvPr id="8" name="TextBox 8"/>
            <p:cNvSpPr txBox="1"/>
            <p:nvPr/>
          </p:nvSpPr>
          <p:spPr>
            <a:xfrm>
              <a:off x="0" y="-28575"/>
              <a:ext cx="705556" cy="307806"/>
            </a:xfrm>
            <a:prstGeom prst="rect">
              <a:avLst/>
            </a:prstGeom>
          </p:spPr>
          <p:txBody>
            <a:bodyPr lIns="50800" tIns="50800" rIns="50800" bIns="50800" rtlCol="0" anchor="ctr"/>
            <a:lstStyle/>
            <a:p>
              <a:pPr algn="ctr">
                <a:lnSpc>
                  <a:spcPts val="1960"/>
                </a:lnSpc>
                <a:spcBef>
                  <a:spcPct val="0"/>
                </a:spcBef>
              </a:pPr>
              <a:endParaRPr/>
            </a:p>
          </p:txBody>
        </p:sp>
      </p:grpSp>
      <p:sp>
        <p:nvSpPr>
          <p:cNvPr id="9" name="Freeform 9"/>
          <p:cNvSpPr/>
          <p:nvPr/>
        </p:nvSpPr>
        <p:spPr>
          <a:xfrm>
            <a:off x="8493307" y="3198028"/>
            <a:ext cx="1301386" cy="3890944"/>
          </a:xfrm>
          <a:custGeom>
            <a:avLst/>
            <a:gdLst/>
            <a:ahLst/>
            <a:cxnLst/>
            <a:rect l="l" t="t" r="r" b="b"/>
            <a:pathLst>
              <a:path w="1301386" h="3890944">
                <a:moveTo>
                  <a:pt x="0" y="0"/>
                </a:moveTo>
                <a:lnTo>
                  <a:pt x="1301386" y="0"/>
                </a:lnTo>
                <a:lnTo>
                  <a:pt x="1301386" y="3890944"/>
                </a:lnTo>
                <a:lnTo>
                  <a:pt x="0" y="38909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9794693" y="5787587"/>
            <a:ext cx="3271873" cy="1301386"/>
            <a:chOff x="0" y="0"/>
            <a:chExt cx="702028" cy="279231"/>
          </a:xfrm>
        </p:grpSpPr>
        <p:sp>
          <p:nvSpPr>
            <p:cNvPr id="11" name="Freeform 11"/>
            <p:cNvSpPr/>
            <p:nvPr/>
          </p:nvSpPr>
          <p:spPr>
            <a:xfrm>
              <a:off x="0" y="0"/>
              <a:ext cx="702028" cy="279231"/>
            </a:xfrm>
            <a:custGeom>
              <a:avLst/>
              <a:gdLst/>
              <a:ahLst/>
              <a:cxnLst/>
              <a:rect l="l" t="t" r="r" b="b"/>
              <a:pathLst>
                <a:path w="702028" h="279231">
                  <a:moveTo>
                    <a:pt x="0" y="0"/>
                  </a:moveTo>
                  <a:lnTo>
                    <a:pt x="702028" y="0"/>
                  </a:lnTo>
                  <a:lnTo>
                    <a:pt x="702028" y="279231"/>
                  </a:lnTo>
                  <a:lnTo>
                    <a:pt x="0" y="279231"/>
                  </a:lnTo>
                  <a:close/>
                </a:path>
              </a:pathLst>
            </a:custGeom>
            <a:solidFill>
              <a:srgbClr val="E1A4B6"/>
            </a:solidFill>
          </p:spPr>
        </p:sp>
        <p:sp>
          <p:nvSpPr>
            <p:cNvPr id="12" name="TextBox 12"/>
            <p:cNvSpPr txBox="1"/>
            <p:nvPr/>
          </p:nvSpPr>
          <p:spPr>
            <a:xfrm>
              <a:off x="0" y="-28575"/>
              <a:ext cx="702028" cy="307806"/>
            </a:xfrm>
            <a:prstGeom prst="rect">
              <a:avLst/>
            </a:prstGeom>
          </p:spPr>
          <p:txBody>
            <a:bodyPr lIns="50800" tIns="50800" rIns="50800" bIns="50800" rtlCol="0" anchor="ctr"/>
            <a:lstStyle/>
            <a:p>
              <a:pPr algn="ctr">
                <a:lnSpc>
                  <a:spcPts val="1960"/>
                </a:lnSpc>
                <a:spcBef>
                  <a:spcPct val="0"/>
                </a:spcBef>
              </a:pPr>
              <a:endParaRPr/>
            </a:p>
          </p:txBody>
        </p:sp>
      </p:grpSp>
      <p:sp>
        <p:nvSpPr>
          <p:cNvPr id="13" name="Freeform 13"/>
          <p:cNvSpPr/>
          <p:nvPr/>
        </p:nvSpPr>
        <p:spPr>
          <a:xfrm>
            <a:off x="13066566" y="5787587"/>
            <a:ext cx="1301386" cy="3890944"/>
          </a:xfrm>
          <a:custGeom>
            <a:avLst/>
            <a:gdLst/>
            <a:ahLst/>
            <a:cxnLst/>
            <a:rect l="l" t="t" r="r" b="b"/>
            <a:pathLst>
              <a:path w="1301386" h="3890944">
                <a:moveTo>
                  <a:pt x="0" y="0"/>
                </a:moveTo>
                <a:lnTo>
                  <a:pt x="1301386" y="0"/>
                </a:lnTo>
                <a:lnTo>
                  <a:pt x="1301386" y="3890944"/>
                </a:lnTo>
                <a:lnTo>
                  <a:pt x="0" y="38909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14367952" y="8377146"/>
            <a:ext cx="3920048" cy="1301386"/>
            <a:chOff x="0" y="0"/>
            <a:chExt cx="841103" cy="279231"/>
          </a:xfrm>
        </p:grpSpPr>
        <p:sp>
          <p:nvSpPr>
            <p:cNvPr id="15" name="Freeform 15"/>
            <p:cNvSpPr/>
            <p:nvPr/>
          </p:nvSpPr>
          <p:spPr>
            <a:xfrm>
              <a:off x="0" y="0"/>
              <a:ext cx="841103" cy="279231"/>
            </a:xfrm>
            <a:custGeom>
              <a:avLst/>
              <a:gdLst/>
              <a:ahLst/>
              <a:cxnLst/>
              <a:rect l="l" t="t" r="r" b="b"/>
              <a:pathLst>
                <a:path w="841103" h="279231">
                  <a:moveTo>
                    <a:pt x="0" y="0"/>
                  </a:moveTo>
                  <a:lnTo>
                    <a:pt x="841103" y="0"/>
                  </a:lnTo>
                  <a:lnTo>
                    <a:pt x="841103" y="279231"/>
                  </a:lnTo>
                  <a:lnTo>
                    <a:pt x="0" y="279231"/>
                  </a:lnTo>
                  <a:close/>
                </a:path>
              </a:pathLst>
            </a:custGeom>
            <a:solidFill>
              <a:srgbClr val="A1DBF8"/>
            </a:solidFill>
          </p:spPr>
        </p:sp>
        <p:sp>
          <p:nvSpPr>
            <p:cNvPr id="16" name="TextBox 16"/>
            <p:cNvSpPr txBox="1"/>
            <p:nvPr/>
          </p:nvSpPr>
          <p:spPr>
            <a:xfrm>
              <a:off x="0" y="-28575"/>
              <a:ext cx="841103" cy="307806"/>
            </a:xfrm>
            <a:prstGeom prst="rect">
              <a:avLst/>
            </a:prstGeom>
          </p:spPr>
          <p:txBody>
            <a:bodyPr lIns="50800" tIns="50800" rIns="50800" bIns="50800" rtlCol="0" anchor="ctr"/>
            <a:lstStyle/>
            <a:p>
              <a:pPr algn="ctr">
                <a:lnSpc>
                  <a:spcPts val="1960"/>
                </a:lnSpc>
                <a:spcBef>
                  <a:spcPct val="0"/>
                </a:spcBef>
              </a:pPr>
              <a:endParaRPr/>
            </a:p>
          </p:txBody>
        </p:sp>
      </p:grpSp>
      <p:sp>
        <p:nvSpPr>
          <p:cNvPr id="17" name="Freeform 17"/>
          <p:cNvSpPr/>
          <p:nvPr/>
        </p:nvSpPr>
        <p:spPr>
          <a:xfrm rot="-5400000">
            <a:off x="4692455" y="3727007"/>
            <a:ext cx="1301386" cy="243428"/>
          </a:xfrm>
          <a:custGeom>
            <a:avLst/>
            <a:gdLst/>
            <a:ahLst/>
            <a:cxnLst/>
            <a:rect l="l" t="t" r="r" b="b"/>
            <a:pathLst>
              <a:path w="1301386" h="243428">
                <a:moveTo>
                  <a:pt x="0" y="0"/>
                </a:moveTo>
                <a:lnTo>
                  <a:pt x="1301385" y="0"/>
                </a:lnTo>
                <a:lnTo>
                  <a:pt x="1301385" y="243427"/>
                </a:lnTo>
                <a:lnTo>
                  <a:pt x="0" y="243427"/>
                </a:lnTo>
                <a:lnTo>
                  <a:pt x="0" y="0"/>
                </a:lnTo>
                <a:close/>
              </a:path>
            </a:pathLst>
          </a:custGeom>
          <a:blipFill>
            <a:blip r:embed="rId4">
              <a:alphaModFix amt="50000"/>
            </a:blip>
            <a:stretch>
              <a:fillRect l="-107836"/>
            </a:stretch>
          </a:blipFill>
        </p:spPr>
      </p:sp>
      <p:sp>
        <p:nvSpPr>
          <p:cNvPr id="18" name="Freeform 18"/>
          <p:cNvSpPr/>
          <p:nvPr/>
        </p:nvSpPr>
        <p:spPr>
          <a:xfrm rot="-5400000" flipV="1">
            <a:off x="3147642" y="1137448"/>
            <a:ext cx="1301386" cy="243428"/>
          </a:xfrm>
          <a:custGeom>
            <a:avLst/>
            <a:gdLst/>
            <a:ahLst/>
            <a:cxnLst/>
            <a:rect l="l" t="t" r="r" b="b"/>
            <a:pathLst>
              <a:path w="1301386" h="243428">
                <a:moveTo>
                  <a:pt x="0" y="243427"/>
                </a:moveTo>
                <a:lnTo>
                  <a:pt x="1301385" y="243427"/>
                </a:lnTo>
                <a:lnTo>
                  <a:pt x="1301385" y="0"/>
                </a:lnTo>
                <a:lnTo>
                  <a:pt x="0" y="0"/>
                </a:lnTo>
                <a:lnTo>
                  <a:pt x="0" y="243427"/>
                </a:lnTo>
                <a:close/>
              </a:path>
            </a:pathLst>
          </a:custGeom>
          <a:blipFill>
            <a:blip r:embed="rId4">
              <a:alphaModFix amt="50000"/>
            </a:blip>
            <a:stretch>
              <a:fillRect l="-107836"/>
            </a:stretch>
          </a:blipFill>
        </p:spPr>
      </p:sp>
      <p:sp>
        <p:nvSpPr>
          <p:cNvPr id="19" name="Freeform 19"/>
          <p:cNvSpPr/>
          <p:nvPr/>
        </p:nvSpPr>
        <p:spPr>
          <a:xfrm rot="-5400000" flipV="1">
            <a:off x="7720901" y="3727007"/>
            <a:ext cx="1301386" cy="243428"/>
          </a:xfrm>
          <a:custGeom>
            <a:avLst/>
            <a:gdLst/>
            <a:ahLst/>
            <a:cxnLst/>
            <a:rect l="l" t="t" r="r" b="b"/>
            <a:pathLst>
              <a:path w="1301386" h="243428">
                <a:moveTo>
                  <a:pt x="0" y="243427"/>
                </a:moveTo>
                <a:lnTo>
                  <a:pt x="1301385" y="243427"/>
                </a:lnTo>
                <a:lnTo>
                  <a:pt x="1301385" y="0"/>
                </a:lnTo>
                <a:lnTo>
                  <a:pt x="0" y="0"/>
                </a:lnTo>
                <a:lnTo>
                  <a:pt x="0" y="243427"/>
                </a:lnTo>
                <a:close/>
              </a:path>
            </a:pathLst>
          </a:custGeom>
          <a:blipFill>
            <a:blip r:embed="rId4">
              <a:alphaModFix amt="50000"/>
            </a:blip>
            <a:stretch>
              <a:fillRect l="-107836"/>
            </a:stretch>
          </a:blipFill>
        </p:spPr>
      </p:sp>
      <p:sp>
        <p:nvSpPr>
          <p:cNvPr id="20" name="Freeform 20"/>
          <p:cNvSpPr/>
          <p:nvPr/>
        </p:nvSpPr>
        <p:spPr>
          <a:xfrm rot="-5400000" flipV="1">
            <a:off x="12294160" y="6316566"/>
            <a:ext cx="1301386" cy="243428"/>
          </a:xfrm>
          <a:custGeom>
            <a:avLst/>
            <a:gdLst/>
            <a:ahLst/>
            <a:cxnLst/>
            <a:rect l="l" t="t" r="r" b="b"/>
            <a:pathLst>
              <a:path w="1301386" h="243428">
                <a:moveTo>
                  <a:pt x="0" y="243427"/>
                </a:moveTo>
                <a:lnTo>
                  <a:pt x="1301385" y="243427"/>
                </a:lnTo>
                <a:lnTo>
                  <a:pt x="1301385" y="0"/>
                </a:lnTo>
                <a:lnTo>
                  <a:pt x="0" y="0"/>
                </a:lnTo>
                <a:lnTo>
                  <a:pt x="0" y="243427"/>
                </a:lnTo>
                <a:close/>
              </a:path>
            </a:pathLst>
          </a:custGeom>
          <a:blipFill>
            <a:blip r:embed="rId4">
              <a:alphaModFix amt="50000"/>
            </a:blip>
            <a:stretch>
              <a:fillRect l="-107836"/>
            </a:stretch>
          </a:blipFill>
        </p:spPr>
      </p:sp>
      <p:sp>
        <p:nvSpPr>
          <p:cNvPr id="21" name="Freeform 21"/>
          <p:cNvSpPr/>
          <p:nvPr/>
        </p:nvSpPr>
        <p:spPr>
          <a:xfrm rot="-5400000">
            <a:off x="9265714" y="6316566"/>
            <a:ext cx="1301386" cy="243428"/>
          </a:xfrm>
          <a:custGeom>
            <a:avLst/>
            <a:gdLst/>
            <a:ahLst/>
            <a:cxnLst/>
            <a:rect l="l" t="t" r="r" b="b"/>
            <a:pathLst>
              <a:path w="1301386" h="243428">
                <a:moveTo>
                  <a:pt x="0" y="0"/>
                </a:moveTo>
                <a:lnTo>
                  <a:pt x="1301385" y="0"/>
                </a:lnTo>
                <a:lnTo>
                  <a:pt x="1301385" y="243427"/>
                </a:lnTo>
                <a:lnTo>
                  <a:pt x="0" y="243427"/>
                </a:lnTo>
                <a:lnTo>
                  <a:pt x="0" y="0"/>
                </a:lnTo>
                <a:close/>
              </a:path>
            </a:pathLst>
          </a:custGeom>
          <a:blipFill>
            <a:blip r:embed="rId4">
              <a:alphaModFix amt="50000"/>
            </a:blip>
            <a:stretch>
              <a:fillRect l="-107836"/>
            </a:stretch>
          </a:blipFill>
        </p:spPr>
      </p:sp>
      <p:sp>
        <p:nvSpPr>
          <p:cNvPr id="22" name="Freeform 22"/>
          <p:cNvSpPr/>
          <p:nvPr/>
        </p:nvSpPr>
        <p:spPr>
          <a:xfrm rot="-5400000">
            <a:off x="13838973" y="8906125"/>
            <a:ext cx="1301386" cy="243428"/>
          </a:xfrm>
          <a:custGeom>
            <a:avLst/>
            <a:gdLst/>
            <a:ahLst/>
            <a:cxnLst/>
            <a:rect l="l" t="t" r="r" b="b"/>
            <a:pathLst>
              <a:path w="1301386" h="243428">
                <a:moveTo>
                  <a:pt x="0" y="0"/>
                </a:moveTo>
                <a:lnTo>
                  <a:pt x="1301385" y="0"/>
                </a:lnTo>
                <a:lnTo>
                  <a:pt x="1301385" y="243427"/>
                </a:lnTo>
                <a:lnTo>
                  <a:pt x="0" y="243427"/>
                </a:lnTo>
                <a:lnTo>
                  <a:pt x="0" y="0"/>
                </a:lnTo>
                <a:close/>
              </a:path>
            </a:pathLst>
          </a:custGeom>
          <a:blipFill>
            <a:blip r:embed="rId4">
              <a:alphaModFix amt="50000"/>
            </a:blip>
            <a:stretch>
              <a:fillRect l="-107836"/>
            </a:stretch>
          </a:blipFill>
        </p:spPr>
      </p:sp>
      <p:sp>
        <p:nvSpPr>
          <p:cNvPr id="23" name="AutoShape 23"/>
          <p:cNvSpPr/>
          <p:nvPr/>
        </p:nvSpPr>
        <p:spPr>
          <a:xfrm>
            <a:off x="1960024" y="1909854"/>
            <a:ext cx="0" cy="644087"/>
          </a:xfrm>
          <a:prstGeom prst="line">
            <a:avLst/>
          </a:prstGeom>
          <a:ln w="19050" cap="flat">
            <a:solidFill>
              <a:srgbClr val="404040"/>
            </a:solidFill>
            <a:prstDash val="solid"/>
            <a:headEnd type="none" w="sm" len="sm"/>
            <a:tailEnd type="none" w="sm" len="sm"/>
          </a:ln>
        </p:spPr>
      </p:sp>
      <p:grpSp>
        <p:nvGrpSpPr>
          <p:cNvPr id="24" name="Group 24"/>
          <p:cNvGrpSpPr/>
          <p:nvPr/>
        </p:nvGrpSpPr>
        <p:grpSpPr>
          <a:xfrm>
            <a:off x="1835519" y="2429436"/>
            <a:ext cx="249011" cy="249011"/>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4040"/>
            </a:solidFill>
          </p:spPr>
        </p:sp>
        <p:sp>
          <p:nvSpPr>
            <p:cNvPr id="26" name="TextBox 26"/>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sp>
        <p:nvSpPr>
          <p:cNvPr id="27" name="TextBox 27"/>
          <p:cNvSpPr txBox="1"/>
          <p:nvPr/>
        </p:nvSpPr>
        <p:spPr>
          <a:xfrm>
            <a:off x="-1503544" y="1052766"/>
            <a:ext cx="6990097" cy="469941"/>
          </a:xfrm>
          <a:prstGeom prst="rect">
            <a:avLst/>
          </a:prstGeom>
        </p:spPr>
        <p:txBody>
          <a:bodyPr lIns="0" tIns="0" rIns="0" bIns="0" rtlCol="0" anchor="t">
            <a:spAutoFit/>
          </a:bodyPr>
          <a:lstStyle/>
          <a:p>
            <a:pPr algn="ctr">
              <a:lnSpc>
                <a:spcPts val="3500"/>
              </a:lnSpc>
            </a:pPr>
            <a:r>
              <a:rPr lang="en-US" sz="3500" b="1">
                <a:solidFill>
                  <a:srgbClr val="404040"/>
                </a:solidFill>
                <a:latin typeface="Gotham Bold"/>
                <a:ea typeface="Gotham Bold"/>
                <a:cs typeface="Gotham Bold"/>
                <a:sym typeface="Gotham Bold"/>
              </a:rPr>
              <a:t>INTRODUCTION</a:t>
            </a:r>
          </a:p>
        </p:txBody>
      </p:sp>
      <p:sp>
        <p:nvSpPr>
          <p:cNvPr id="28" name="TextBox 28"/>
          <p:cNvSpPr txBox="1"/>
          <p:nvPr/>
        </p:nvSpPr>
        <p:spPr>
          <a:xfrm>
            <a:off x="5415336" y="3419778"/>
            <a:ext cx="2900511" cy="908130"/>
          </a:xfrm>
          <a:prstGeom prst="rect">
            <a:avLst/>
          </a:prstGeom>
        </p:spPr>
        <p:txBody>
          <a:bodyPr lIns="0" tIns="0" rIns="0" bIns="0" rtlCol="0" anchor="t">
            <a:spAutoFit/>
          </a:bodyPr>
          <a:lstStyle/>
          <a:p>
            <a:pPr algn="ctr">
              <a:lnSpc>
                <a:spcPts val="3500"/>
              </a:lnSpc>
            </a:pPr>
            <a:r>
              <a:rPr lang="en-US" sz="3500" b="1">
                <a:solidFill>
                  <a:srgbClr val="404040"/>
                </a:solidFill>
                <a:latin typeface="Gotham Bold"/>
                <a:ea typeface="Gotham Bold"/>
                <a:cs typeface="Gotham Bold"/>
                <a:sym typeface="Gotham Bold"/>
              </a:rPr>
              <a:t>TREE STRUCTURE</a:t>
            </a:r>
          </a:p>
        </p:txBody>
      </p:sp>
      <p:sp>
        <p:nvSpPr>
          <p:cNvPr id="29" name="TextBox 29"/>
          <p:cNvSpPr txBox="1"/>
          <p:nvPr/>
        </p:nvSpPr>
        <p:spPr>
          <a:xfrm>
            <a:off x="9980374" y="6009337"/>
            <a:ext cx="2900511" cy="908130"/>
          </a:xfrm>
          <a:prstGeom prst="rect">
            <a:avLst/>
          </a:prstGeom>
        </p:spPr>
        <p:txBody>
          <a:bodyPr lIns="0" tIns="0" rIns="0" bIns="0" rtlCol="0" anchor="t">
            <a:spAutoFit/>
          </a:bodyPr>
          <a:lstStyle/>
          <a:p>
            <a:pPr algn="ctr">
              <a:lnSpc>
                <a:spcPts val="3500"/>
              </a:lnSpc>
            </a:pPr>
            <a:r>
              <a:rPr lang="en-US" sz="3500" b="1">
                <a:solidFill>
                  <a:srgbClr val="404040"/>
                </a:solidFill>
                <a:latin typeface="Gotham Bold"/>
                <a:ea typeface="Gotham Bold"/>
                <a:cs typeface="Gotham Bold"/>
                <a:sym typeface="Gotham Bold"/>
              </a:rPr>
              <a:t>BINARY TREES</a:t>
            </a:r>
          </a:p>
        </p:txBody>
      </p:sp>
      <p:sp>
        <p:nvSpPr>
          <p:cNvPr id="30" name="TextBox 30"/>
          <p:cNvSpPr txBox="1"/>
          <p:nvPr/>
        </p:nvSpPr>
        <p:spPr>
          <a:xfrm>
            <a:off x="10051590" y="1152525"/>
            <a:ext cx="7207710" cy="848360"/>
          </a:xfrm>
          <a:prstGeom prst="rect">
            <a:avLst/>
          </a:prstGeom>
        </p:spPr>
        <p:txBody>
          <a:bodyPr lIns="0" tIns="0" rIns="0" bIns="0" rtlCol="0" anchor="t">
            <a:spAutoFit/>
          </a:bodyPr>
          <a:lstStyle/>
          <a:p>
            <a:pPr algn="r">
              <a:lnSpc>
                <a:spcPts val="6399"/>
              </a:lnSpc>
            </a:pPr>
            <a:r>
              <a:rPr lang="en-US" sz="6399" b="1" spc="639">
                <a:solidFill>
                  <a:srgbClr val="404040"/>
                </a:solidFill>
                <a:latin typeface="Gotham Bold"/>
                <a:ea typeface="Gotham Bold"/>
                <a:cs typeface="Gotham Bold"/>
                <a:sym typeface="Gotham Bold"/>
              </a:rPr>
              <a:t>OUTLINE</a:t>
            </a:r>
          </a:p>
        </p:txBody>
      </p:sp>
      <p:sp>
        <p:nvSpPr>
          <p:cNvPr id="31" name="AutoShape 31"/>
          <p:cNvSpPr/>
          <p:nvPr/>
        </p:nvSpPr>
        <p:spPr>
          <a:xfrm>
            <a:off x="6865591" y="4499413"/>
            <a:ext cx="0" cy="644087"/>
          </a:xfrm>
          <a:prstGeom prst="line">
            <a:avLst/>
          </a:prstGeom>
          <a:ln w="19050" cap="flat">
            <a:solidFill>
              <a:srgbClr val="404040"/>
            </a:solidFill>
            <a:prstDash val="solid"/>
            <a:headEnd type="none" w="sm" len="sm"/>
            <a:tailEnd type="none" w="sm" len="sm"/>
          </a:ln>
        </p:spPr>
      </p:sp>
      <p:grpSp>
        <p:nvGrpSpPr>
          <p:cNvPr id="32" name="Group 32"/>
          <p:cNvGrpSpPr/>
          <p:nvPr/>
        </p:nvGrpSpPr>
        <p:grpSpPr>
          <a:xfrm>
            <a:off x="6741086" y="5018995"/>
            <a:ext cx="249011" cy="249011"/>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4040"/>
            </a:solidFill>
          </p:spPr>
        </p:sp>
        <p:sp>
          <p:nvSpPr>
            <p:cNvPr id="34" name="TextBox 3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sp>
        <p:nvSpPr>
          <p:cNvPr id="35" name="AutoShape 35"/>
          <p:cNvSpPr/>
          <p:nvPr/>
        </p:nvSpPr>
        <p:spPr>
          <a:xfrm>
            <a:off x="11430629" y="7088972"/>
            <a:ext cx="0" cy="644087"/>
          </a:xfrm>
          <a:prstGeom prst="line">
            <a:avLst/>
          </a:prstGeom>
          <a:ln w="19050" cap="flat">
            <a:solidFill>
              <a:srgbClr val="404040"/>
            </a:solidFill>
            <a:prstDash val="solid"/>
            <a:headEnd type="none" w="sm" len="sm"/>
            <a:tailEnd type="none" w="sm" len="sm"/>
          </a:ln>
        </p:spPr>
      </p:sp>
      <p:grpSp>
        <p:nvGrpSpPr>
          <p:cNvPr id="36" name="Group 36"/>
          <p:cNvGrpSpPr/>
          <p:nvPr/>
        </p:nvGrpSpPr>
        <p:grpSpPr>
          <a:xfrm>
            <a:off x="11306124" y="7608554"/>
            <a:ext cx="249011" cy="249011"/>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4040"/>
            </a:solidFill>
          </p:spPr>
        </p:sp>
        <p:sp>
          <p:nvSpPr>
            <p:cNvPr id="38" name="TextBox 38"/>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sp>
        <p:nvSpPr>
          <p:cNvPr id="39" name="AutoShape 39"/>
          <p:cNvSpPr/>
          <p:nvPr/>
        </p:nvSpPr>
        <p:spPr>
          <a:xfrm>
            <a:off x="16327976" y="7732771"/>
            <a:ext cx="0" cy="644087"/>
          </a:xfrm>
          <a:prstGeom prst="line">
            <a:avLst/>
          </a:prstGeom>
          <a:ln w="19050" cap="flat">
            <a:solidFill>
              <a:srgbClr val="404040"/>
            </a:solidFill>
            <a:prstDash val="solid"/>
            <a:headEnd type="none" w="sm" len="sm"/>
            <a:tailEnd type="none" w="sm" len="sm"/>
          </a:ln>
        </p:spPr>
      </p:sp>
      <p:grpSp>
        <p:nvGrpSpPr>
          <p:cNvPr id="40" name="Group 40"/>
          <p:cNvGrpSpPr/>
          <p:nvPr/>
        </p:nvGrpSpPr>
        <p:grpSpPr>
          <a:xfrm>
            <a:off x="16203471" y="7608266"/>
            <a:ext cx="249011" cy="249011"/>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4040"/>
            </a:solidFill>
          </p:spPr>
        </p:sp>
        <p:sp>
          <p:nvSpPr>
            <p:cNvPr id="42" name="TextBox 42"/>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sp>
        <p:nvSpPr>
          <p:cNvPr id="43" name="TextBox 43"/>
          <p:cNvSpPr txBox="1"/>
          <p:nvPr/>
        </p:nvSpPr>
        <p:spPr>
          <a:xfrm>
            <a:off x="14877720" y="8383254"/>
            <a:ext cx="2900511" cy="1346319"/>
          </a:xfrm>
          <a:prstGeom prst="rect">
            <a:avLst/>
          </a:prstGeom>
        </p:spPr>
        <p:txBody>
          <a:bodyPr lIns="0" tIns="0" rIns="0" bIns="0" rtlCol="0" anchor="t">
            <a:spAutoFit/>
          </a:bodyPr>
          <a:lstStyle/>
          <a:p>
            <a:pPr algn="ctr">
              <a:lnSpc>
                <a:spcPts val="3500"/>
              </a:lnSpc>
            </a:pPr>
            <a:r>
              <a:rPr lang="en-US" sz="3500" b="1">
                <a:solidFill>
                  <a:srgbClr val="404040"/>
                </a:solidFill>
                <a:latin typeface="Gotham Bold"/>
                <a:ea typeface="Gotham Bold"/>
                <a:cs typeface="Gotham Bold"/>
                <a:sym typeface="Gotham Bold"/>
              </a:rPr>
              <a:t>BINARY SEARCH TREES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grpSp>
        <p:nvGrpSpPr>
          <p:cNvPr id="2" name="Group 2"/>
          <p:cNvGrpSpPr/>
          <p:nvPr/>
        </p:nvGrpSpPr>
        <p:grpSpPr>
          <a:xfrm>
            <a:off x="576262" y="615383"/>
            <a:ext cx="17135475" cy="9056233"/>
            <a:chOff x="0" y="0"/>
            <a:chExt cx="4513047" cy="2385181"/>
          </a:xfrm>
        </p:grpSpPr>
        <p:sp>
          <p:nvSpPr>
            <p:cNvPr id="3" name="Freeform 3"/>
            <p:cNvSpPr/>
            <p:nvPr/>
          </p:nvSpPr>
          <p:spPr>
            <a:xfrm>
              <a:off x="0" y="0"/>
              <a:ext cx="4513047" cy="2385181"/>
            </a:xfrm>
            <a:custGeom>
              <a:avLst/>
              <a:gdLst/>
              <a:ahLst/>
              <a:cxnLst/>
              <a:rect l="l" t="t" r="r" b="b"/>
              <a:pathLst>
                <a:path w="4513047" h="2385181">
                  <a:moveTo>
                    <a:pt x="0" y="0"/>
                  </a:moveTo>
                  <a:lnTo>
                    <a:pt x="4513047" y="0"/>
                  </a:lnTo>
                  <a:lnTo>
                    <a:pt x="4513047" y="2385181"/>
                  </a:lnTo>
                  <a:lnTo>
                    <a:pt x="0" y="2385181"/>
                  </a:lnTo>
                  <a:close/>
                </a:path>
              </a:pathLst>
            </a:custGeom>
            <a:solidFill>
              <a:srgbClr val="000000">
                <a:alpha val="0"/>
              </a:srgbClr>
            </a:solidFill>
            <a:ln w="19050" cap="sq">
              <a:solidFill>
                <a:srgbClr val="404040"/>
              </a:solidFill>
              <a:prstDash val="solid"/>
              <a:miter/>
            </a:ln>
          </p:spPr>
        </p:sp>
        <p:sp>
          <p:nvSpPr>
            <p:cNvPr id="4" name="TextBox 4"/>
            <p:cNvSpPr txBox="1"/>
            <p:nvPr/>
          </p:nvSpPr>
          <p:spPr>
            <a:xfrm>
              <a:off x="0" y="-28575"/>
              <a:ext cx="4513047" cy="2413756"/>
            </a:xfrm>
            <a:prstGeom prst="rect">
              <a:avLst/>
            </a:prstGeom>
          </p:spPr>
          <p:txBody>
            <a:bodyPr lIns="50800" tIns="50800" rIns="50800" bIns="50800" rtlCol="0" anchor="ctr"/>
            <a:lstStyle/>
            <a:p>
              <a:pPr algn="ctr">
                <a:lnSpc>
                  <a:spcPts val="1960"/>
                </a:lnSpc>
              </a:pPr>
              <a:r>
                <a:rPr lang="en-US" sz="1400">
                  <a:solidFill>
                    <a:srgbClr val="000000"/>
                  </a:solidFill>
                  <a:latin typeface="Canva Sans"/>
                  <a:ea typeface="Canva Sans"/>
                  <a:cs typeface="Canva Sans"/>
                  <a:sym typeface="Canva Sans"/>
                </a:rPr>
                <a:t>rr</a:t>
              </a:r>
            </a:p>
          </p:txBody>
        </p:sp>
      </p:grpSp>
      <p:sp>
        <p:nvSpPr>
          <p:cNvPr id="5" name="Freeform 5"/>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4458460" y="1085820"/>
            <a:ext cx="8365973" cy="848360"/>
          </a:xfrm>
          <a:prstGeom prst="rect">
            <a:avLst/>
          </a:prstGeom>
        </p:spPr>
        <p:txBody>
          <a:bodyPr lIns="0" tIns="0" rIns="0" bIns="0" rtlCol="0" anchor="t">
            <a:spAutoFit/>
          </a:bodyPr>
          <a:lstStyle/>
          <a:p>
            <a:pPr algn="ctr">
              <a:lnSpc>
                <a:spcPts val="6399"/>
              </a:lnSpc>
            </a:pPr>
            <a:r>
              <a:rPr lang="en-US" sz="6399" b="1" spc="639">
                <a:solidFill>
                  <a:srgbClr val="404040"/>
                </a:solidFill>
                <a:latin typeface="Gotham Bold"/>
                <a:ea typeface="Gotham Bold"/>
                <a:cs typeface="Gotham Bold"/>
                <a:sym typeface="Gotham Bold"/>
              </a:rPr>
              <a:t>INTRODUCTION </a:t>
            </a:r>
          </a:p>
        </p:txBody>
      </p:sp>
      <p:sp>
        <p:nvSpPr>
          <p:cNvPr id="8" name="Freeform 8"/>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2017282" y="2358368"/>
            <a:ext cx="14437135" cy="4471358"/>
          </a:xfrm>
          <a:prstGeom prst="rect">
            <a:avLst/>
          </a:prstGeom>
        </p:spPr>
        <p:txBody>
          <a:bodyPr lIns="0" tIns="0" rIns="0" bIns="0" rtlCol="0" anchor="t">
            <a:spAutoFit/>
          </a:bodyPr>
          <a:lstStyle/>
          <a:p>
            <a:pPr algn="l">
              <a:lnSpc>
                <a:spcPts val="4479"/>
              </a:lnSpc>
            </a:pPr>
            <a:r>
              <a:rPr lang="en-US" sz="3199" b="1" dirty="0">
                <a:solidFill>
                  <a:srgbClr val="5271FF"/>
                </a:solidFill>
                <a:latin typeface="Canva Sans Bold"/>
                <a:ea typeface="Canva Sans Bold"/>
                <a:cs typeface="Canva Sans Bold"/>
                <a:sym typeface="Canva Sans Bold"/>
              </a:rPr>
              <a:t>What is a Tree DS?</a:t>
            </a:r>
          </a:p>
          <a:p>
            <a:pPr marL="690872" lvl="1" indent="-345436" algn="l">
              <a:lnSpc>
                <a:spcPts val="4479"/>
              </a:lnSpc>
              <a:buFont typeface="Arial"/>
              <a:buChar char="•"/>
            </a:pPr>
            <a:r>
              <a:rPr lang="en-US" sz="3199" b="1" dirty="0">
                <a:solidFill>
                  <a:srgbClr val="404040"/>
                </a:solidFill>
                <a:latin typeface="Canva Sans Bold"/>
                <a:ea typeface="Canva Sans Bold"/>
                <a:cs typeface="Canva Sans Bold"/>
                <a:sym typeface="Canva Sans Bold"/>
              </a:rPr>
              <a:t>Non- linear data structure</a:t>
            </a:r>
          </a:p>
          <a:p>
            <a:pPr marL="690872" lvl="1" indent="-345436" algn="l">
              <a:lnSpc>
                <a:spcPts val="4479"/>
              </a:lnSpc>
              <a:buFont typeface="Arial"/>
              <a:buChar char="•"/>
            </a:pPr>
            <a:r>
              <a:rPr lang="en-US" sz="3199" b="1" dirty="0">
                <a:solidFill>
                  <a:srgbClr val="404040"/>
                </a:solidFill>
                <a:latin typeface="Canva Sans Bold"/>
                <a:ea typeface="Canva Sans Bold"/>
                <a:cs typeface="Canva Sans Bold"/>
                <a:sym typeface="Canva Sans Bold"/>
              </a:rPr>
              <a:t>A hierarchical structure </a:t>
            </a:r>
          </a:p>
          <a:p>
            <a:pPr marL="690872" lvl="1" indent="-345436" algn="l">
              <a:lnSpc>
                <a:spcPts val="4479"/>
              </a:lnSpc>
              <a:buFont typeface="Arial"/>
              <a:buChar char="•"/>
            </a:pPr>
            <a:r>
              <a:rPr lang="en-US" sz="3199" b="1" dirty="0">
                <a:solidFill>
                  <a:srgbClr val="404040"/>
                </a:solidFill>
                <a:latin typeface="Canva Sans Bold"/>
                <a:ea typeface="Canva Sans Bold"/>
                <a:cs typeface="Canva Sans Bold"/>
                <a:sym typeface="Canva Sans Bold"/>
              </a:rPr>
              <a:t> Uses to represent and organize data in a way that is easy to navigate and search</a:t>
            </a:r>
          </a:p>
          <a:p>
            <a:pPr marL="690872" lvl="1" indent="-345436" algn="l">
              <a:lnSpc>
                <a:spcPts val="4479"/>
              </a:lnSpc>
              <a:buFont typeface="Arial"/>
              <a:buChar char="•"/>
            </a:pPr>
            <a:r>
              <a:rPr lang="en-US" sz="3199" b="1" dirty="0">
                <a:solidFill>
                  <a:srgbClr val="404040"/>
                </a:solidFill>
                <a:latin typeface="Canva Sans Bold"/>
                <a:ea typeface="Canva Sans Bold"/>
                <a:cs typeface="Canva Sans Bold"/>
                <a:sym typeface="Canva Sans Bold"/>
              </a:rPr>
              <a:t>A collection of nodes that are connected by edges and has a hierarchical relationship between the nodes. </a:t>
            </a:r>
          </a:p>
          <a:p>
            <a:pPr algn="l">
              <a:lnSpc>
                <a:spcPts val="4479"/>
              </a:lnSpc>
              <a:spcBef>
                <a:spcPct val="0"/>
              </a:spcBef>
            </a:pPr>
            <a:endParaRPr lang="en-US" sz="3199" b="1" dirty="0">
              <a:solidFill>
                <a:srgbClr val="404040"/>
              </a:solidFill>
              <a:latin typeface="Canva Sans Bold"/>
              <a:ea typeface="Canva Sans Bold"/>
              <a:cs typeface="Canva Sans Bold"/>
              <a:sym typeface="Canva Sa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grpSp>
        <p:nvGrpSpPr>
          <p:cNvPr id="2" name="Group 2"/>
          <p:cNvGrpSpPr/>
          <p:nvPr/>
        </p:nvGrpSpPr>
        <p:grpSpPr>
          <a:xfrm>
            <a:off x="576263" y="661308"/>
            <a:ext cx="17135475" cy="9056233"/>
            <a:chOff x="0" y="0"/>
            <a:chExt cx="4513047" cy="2385181"/>
          </a:xfrm>
        </p:grpSpPr>
        <p:sp>
          <p:nvSpPr>
            <p:cNvPr id="3" name="Freeform 3"/>
            <p:cNvSpPr/>
            <p:nvPr/>
          </p:nvSpPr>
          <p:spPr>
            <a:xfrm>
              <a:off x="0" y="0"/>
              <a:ext cx="4513047" cy="2385181"/>
            </a:xfrm>
            <a:custGeom>
              <a:avLst/>
              <a:gdLst/>
              <a:ahLst/>
              <a:cxnLst/>
              <a:rect l="l" t="t" r="r" b="b"/>
              <a:pathLst>
                <a:path w="4513047" h="2385181">
                  <a:moveTo>
                    <a:pt x="0" y="0"/>
                  </a:moveTo>
                  <a:lnTo>
                    <a:pt x="4513047" y="0"/>
                  </a:lnTo>
                  <a:lnTo>
                    <a:pt x="4513047" y="2385181"/>
                  </a:lnTo>
                  <a:lnTo>
                    <a:pt x="0" y="2385181"/>
                  </a:lnTo>
                  <a:close/>
                </a:path>
              </a:pathLst>
            </a:custGeom>
            <a:solidFill>
              <a:srgbClr val="000000">
                <a:alpha val="0"/>
              </a:srgbClr>
            </a:solidFill>
            <a:ln w="19050" cap="sq">
              <a:solidFill>
                <a:srgbClr val="404040"/>
              </a:solidFill>
              <a:prstDash val="solid"/>
              <a:miter/>
            </a:ln>
          </p:spPr>
        </p:sp>
        <p:sp>
          <p:nvSpPr>
            <p:cNvPr id="4" name="TextBox 4"/>
            <p:cNvSpPr txBox="1"/>
            <p:nvPr/>
          </p:nvSpPr>
          <p:spPr>
            <a:xfrm>
              <a:off x="0" y="-28575"/>
              <a:ext cx="4513047" cy="2413756"/>
            </a:xfrm>
            <a:prstGeom prst="rect">
              <a:avLst/>
            </a:prstGeom>
          </p:spPr>
          <p:txBody>
            <a:bodyPr lIns="50800" tIns="50800" rIns="50800" bIns="50800" rtlCol="0" anchor="ctr"/>
            <a:lstStyle/>
            <a:p>
              <a:pPr algn="ctr">
                <a:lnSpc>
                  <a:spcPts val="1960"/>
                </a:lnSpc>
              </a:pPr>
              <a:r>
                <a:rPr lang="en-US" sz="1400">
                  <a:solidFill>
                    <a:srgbClr val="000000"/>
                  </a:solidFill>
                  <a:latin typeface="Canva Sans"/>
                  <a:ea typeface="Canva Sans"/>
                  <a:cs typeface="Canva Sans"/>
                  <a:sym typeface="Canva Sans"/>
                </a:rPr>
                <a:t>rr</a:t>
              </a:r>
            </a:p>
          </p:txBody>
        </p:sp>
      </p:grpSp>
      <p:sp>
        <p:nvSpPr>
          <p:cNvPr id="5" name="Freeform 5"/>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4458460" y="1085820"/>
            <a:ext cx="8365973" cy="848360"/>
          </a:xfrm>
          <a:prstGeom prst="rect">
            <a:avLst/>
          </a:prstGeom>
        </p:spPr>
        <p:txBody>
          <a:bodyPr lIns="0" tIns="0" rIns="0" bIns="0" rtlCol="0" anchor="t">
            <a:spAutoFit/>
          </a:bodyPr>
          <a:lstStyle/>
          <a:p>
            <a:pPr algn="ctr">
              <a:lnSpc>
                <a:spcPts val="6399"/>
              </a:lnSpc>
            </a:pPr>
            <a:r>
              <a:rPr lang="en-US" sz="6399" b="1" spc="639">
                <a:solidFill>
                  <a:srgbClr val="404040"/>
                </a:solidFill>
                <a:latin typeface="Gotham Bold"/>
                <a:ea typeface="Gotham Bold"/>
                <a:cs typeface="Gotham Bold"/>
                <a:sym typeface="Gotham Bold"/>
              </a:rPr>
              <a:t>INTRODUCTION </a:t>
            </a:r>
          </a:p>
        </p:txBody>
      </p:sp>
      <p:sp>
        <p:nvSpPr>
          <p:cNvPr id="8" name="Freeform 8"/>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2017282" y="2358368"/>
            <a:ext cx="14437135" cy="5033294"/>
          </a:xfrm>
          <a:prstGeom prst="rect">
            <a:avLst/>
          </a:prstGeom>
        </p:spPr>
        <p:txBody>
          <a:bodyPr lIns="0" tIns="0" rIns="0" bIns="0" rtlCol="0" anchor="t">
            <a:spAutoFit/>
          </a:bodyPr>
          <a:lstStyle/>
          <a:p>
            <a:pPr algn="l">
              <a:lnSpc>
                <a:spcPts val="4479"/>
              </a:lnSpc>
            </a:pPr>
            <a:r>
              <a:rPr lang="en-US" sz="3199" b="1">
                <a:solidFill>
                  <a:srgbClr val="5271FF"/>
                </a:solidFill>
                <a:latin typeface="Canva Sans Bold"/>
                <a:ea typeface="Canva Sans Bold"/>
                <a:cs typeface="Canva Sans Bold"/>
                <a:sym typeface="Canva Sans Bold"/>
              </a:rPr>
              <a:t>Why uses Trees?</a:t>
            </a:r>
          </a:p>
          <a:p>
            <a:pPr marL="690872" lvl="1" indent="-345436" algn="l">
              <a:lnSpc>
                <a:spcPts val="4479"/>
              </a:lnSpc>
              <a:buFont typeface="Arial"/>
              <a:buChar char="•"/>
            </a:pPr>
            <a:r>
              <a:rPr lang="en-US" sz="3199" b="1">
                <a:solidFill>
                  <a:srgbClr val="404040"/>
                </a:solidFill>
                <a:latin typeface="Canva Sans Bold"/>
                <a:ea typeface="Canva Sans Bold"/>
                <a:cs typeface="Canva Sans Bold"/>
                <a:sym typeface="Canva Sans Bold"/>
              </a:rPr>
              <a:t>Hierarchical Data Representation (e.g., file systems, organizational charts, DOM).</a:t>
            </a:r>
          </a:p>
          <a:p>
            <a:pPr marL="690872" lvl="1" indent="-345436" algn="l">
              <a:lnSpc>
                <a:spcPts val="4479"/>
              </a:lnSpc>
              <a:buFont typeface="Arial"/>
              <a:buChar char="•"/>
            </a:pPr>
            <a:r>
              <a:rPr lang="en-US" sz="3199" b="1">
                <a:solidFill>
                  <a:srgbClr val="404040"/>
                </a:solidFill>
                <a:latin typeface="Canva Sans Bold"/>
                <a:ea typeface="Canva Sans Bold"/>
                <a:cs typeface="Canva Sans Bold"/>
                <a:sym typeface="Canva Sans Bold"/>
              </a:rPr>
              <a:t>Efficient Searching and Sorting (e.g., Binary Search Trees).</a:t>
            </a:r>
          </a:p>
          <a:p>
            <a:pPr marL="690872" lvl="1" indent="-345436" algn="l">
              <a:lnSpc>
                <a:spcPts val="4479"/>
              </a:lnSpc>
              <a:buFont typeface="Arial"/>
              <a:buChar char="•"/>
            </a:pPr>
            <a:r>
              <a:rPr lang="en-US" sz="3199" b="1">
                <a:solidFill>
                  <a:srgbClr val="404040"/>
                </a:solidFill>
                <a:latin typeface="Canva Sans Bold"/>
                <a:ea typeface="Canva Sans Bold"/>
                <a:cs typeface="Canva Sans Bold"/>
                <a:sym typeface="Canva Sans Bold"/>
              </a:rPr>
              <a:t>Applications in:</a:t>
            </a:r>
          </a:p>
          <a:p>
            <a:pPr marL="1381745" lvl="2" indent="-460582" algn="l">
              <a:lnSpc>
                <a:spcPts val="4479"/>
              </a:lnSpc>
              <a:buFont typeface="Arial"/>
              <a:buChar char="⚬"/>
            </a:pPr>
            <a:r>
              <a:rPr lang="en-US" sz="3199" b="1">
                <a:solidFill>
                  <a:srgbClr val="404040"/>
                </a:solidFill>
                <a:latin typeface="Canva Sans Bold"/>
                <a:ea typeface="Canva Sans Bold"/>
                <a:cs typeface="Canva Sans Bold"/>
                <a:sym typeface="Canva Sans Bold"/>
              </a:rPr>
              <a:t>Databases</a:t>
            </a:r>
          </a:p>
          <a:p>
            <a:pPr marL="1381745" lvl="2" indent="-460582" algn="l">
              <a:lnSpc>
                <a:spcPts val="4479"/>
              </a:lnSpc>
              <a:buFont typeface="Arial"/>
              <a:buChar char="⚬"/>
            </a:pPr>
            <a:r>
              <a:rPr lang="en-US" sz="3199" b="1">
                <a:solidFill>
                  <a:srgbClr val="404040"/>
                </a:solidFill>
                <a:latin typeface="Canva Sans Bold"/>
                <a:ea typeface="Canva Sans Bold"/>
                <a:cs typeface="Canva Sans Bold"/>
                <a:sym typeface="Canva Sans Bold"/>
              </a:rPr>
              <a:t>Networking (e.g., routing)</a:t>
            </a:r>
          </a:p>
          <a:p>
            <a:pPr marL="1381745" lvl="2" indent="-460582" algn="l">
              <a:lnSpc>
                <a:spcPts val="4479"/>
              </a:lnSpc>
              <a:buFont typeface="Arial"/>
              <a:buChar char="⚬"/>
            </a:pPr>
            <a:r>
              <a:rPr lang="en-US" sz="3199" b="1">
                <a:solidFill>
                  <a:srgbClr val="404040"/>
                </a:solidFill>
                <a:latin typeface="Canva Sans Bold"/>
                <a:ea typeface="Canva Sans Bold"/>
                <a:cs typeface="Canva Sans Bold"/>
                <a:sym typeface="Canva Sans Bold"/>
              </a:rPr>
              <a:t>Artificial Intelligence (e.g., decision trees, random forest).</a:t>
            </a:r>
          </a:p>
          <a:p>
            <a:pPr algn="l">
              <a:lnSpc>
                <a:spcPts val="4479"/>
              </a:lnSpc>
              <a:spcBef>
                <a:spcPct val="0"/>
              </a:spcBef>
            </a:pPr>
            <a:endParaRPr lang="en-US" sz="3199" b="1">
              <a:solidFill>
                <a:srgbClr val="404040"/>
              </a:solidFill>
              <a:latin typeface="Canva Sans Bold"/>
              <a:ea typeface="Canva Sans Bold"/>
              <a:cs typeface="Canva Sans Bold"/>
              <a:sym typeface="Canva Sans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grpSp>
        <p:nvGrpSpPr>
          <p:cNvPr id="2" name="Group 2"/>
          <p:cNvGrpSpPr/>
          <p:nvPr/>
        </p:nvGrpSpPr>
        <p:grpSpPr>
          <a:xfrm>
            <a:off x="576263" y="661308"/>
            <a:ext cx="17135475" cy="9056233"/>
            <a:chOff x="0" y="0"/>
            <a:chExt cx="4513047" cy="2385181"/>
          </a:xfrm>
        </p:grpSpPr>
        <p:sp>
          <p:nvSpPr>
            <p:cNvPr id="3" name="Freeform 3"/>
            <p:cNvSpPr/>
            <p:nvPr/>
          </p:nvSpPr>
          <p:spPr>
            <a:xfrm>
              <a:off x="0" y="0"/>
              <a:ext cx="4513047" cy="2385181"/>
            </a:xfrm>
            <a:custGeom>
              <a:avLst/>
              <a:gdLst/>
              <a:ahLst/>
              <a:cxnLst/>
              <a:rect l="l" t="t" r="r" b="b"/>
              <a:pathLst>
                <a:path w="4513047" h="2385181">
                  <a:moveTo>
                    <a:pt x="0" y="0"/>
                  </a:moveTo>
                  <a:lnTo>
                    <a:pt x="4513047" y="0"/>
                  </a:lnTo>
                  <a:lnTo>
                    <a:pt x="4513047" y="2385181"/>
                  </a:lnTo>
                  <a:lnTo>
                    <a:pt x="0" y="2385181"/>
                  </a:lnTo>
                  <a:close/>
                </a:path>
              </a:pathLst>
            </a:custGeom>
            <a:solidFill>
              <a:srgbClr val="000000">
                <a:alpha val="0"/>
              </a:srgbClr>
            </a:solidFill>
            <a:ln w="19050" cap="sq">
              <a:solidFill>
                <a:srgbClr val="404040"/>
              </a:solidFill>
              <a:prstDash val="solid"/>
              <a:miter/>
            </a:ln>
          </p:spPr>
        </p:sp>
        <p:sp>
          <p:nvSpPr>
            <p:cNvPr id="4" name="TextBox 4"/>
            <p:cNvSpPr txBox="1"/>
            <p:nvPr/>
          </p:nvSpPr>
          <p:spPr>
            <a:xfrm>
              <a:off x="0" y="-28575"/>
              <a:ext cx="4513047" cy="2413756"/>
            </a:xfrm>
            <a:prstGeom prst="rect">
              <a:avLst/>
            </a:prstGeom>
          </p:spPr>
          <p:txBody>
            <a:bodyPr lIns="50800" tIns="50800" rIns="50800" bIns="50800" rtlCol="0" anchor="ctr"/>
            <a:lstStyle/>
            <a:p>
              <a:pPr algn="ctr">
                <a:lnSpc>
                  <a:spcPts val="1960"/>
                </a:lnSpc>
              </a:pPr>
              <a:r>
                <a:rPr lang="en-US" sz="1400">
                  <a:solidFill>
                    <a:srgbClr val="000000"/>
                  </a:solidFill>
                  <a:latin typeface="Canva Sans"/>
                  <a:ea typeface="Canva Sans"/>
                  <a:cs typeface="Canva Sans"/>
                  <a:sym typeface="Canva Sans"/>
                </a:rPr>
                <a:t>rr</a:t>
              </a:r>
            </a:p>
          </p:txBody>
        </p:sp>
      </p:grpSp>
      <p:sp>
        <p:nvSpPr>
          <p:cNvPr id="5" name="Freeform 5"/>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3233727" y="3125719"/>
            <a:ext cx="10815438" cy="5713193"/>
          </a:xfrm>
          <a:custGeom>
            <a:avLst/>
            <a:gdLst/>
            <a:ahLst/>
            <a:cxnLst/>
            <a:rect l="l" t="t" r="r" b="b"/>
            <a:pathLst>
              <a:path w="10815438" h="5713193">
                <a:moveTo>
                  <a:pt x="0" y="0"/>
                </a:moveTo>
                <a:lnTo>
                  <a:pt x="10815438" y="0"/>
                </a:lnTo>
                <a:lnTo>
                  <a:pt x="10815438" y="5713194"/>
                </a:lnTo>
                <a:lnTo>
                  <a:pt x="0" y="5713194"/>
                </a:lnTo>
                <a:lnTo>
                  <a:pt x="0" y="0"/>
                </a:lnTo>
                <a:close/>
              </a:path>
            </a:pathLst>
          </a:custGeom>
          <a:blipFill>
            <a:blip r:embed="rId6"/>
            <a:stretch>
              <a:fillRect/>
            </a:stretch>
          </a:blipFill>
        </p:spPr>
      </p:sp>
      <p:sp>
        <p:nvSpPr>
          <p:cNvPr id="9" name="TextBox 9"/>
          <p:cNvSpPr txBox="1"/>
          <p:nvPr/>
        </p:nvSpPr>
        <p:spPr>
          <a:xfrm>
            <a:off x="4458460" y="1085820"/>
            <a:ext cx="8365973" cy="848360"/>
          </a:xfrm>
          <a:prstGeom prst="rect">
            <a:avLst/>
          </a:prstGeom>
        </p:spPr>
        <p:txBody>
          <a:bodyPr lIns="0" tIns="0" rIns="0" bIns="0" rtlCol="0" anchor="t">
            <a:spAutoFit/>
          </a:bodyPr>
          <a:lstStyle/>
          <a:p>
            <a:pPr algn="ctr">
              <a:lnSpc>
                <a:spcPts val="6399"/>
              </a:lnSpc>
            </a:pPr>
            <a:r>
              <a:rPr lang="en-US" sz="6399" b="1" spc="639">
                <a:solidFill>
                  <a:srgbClr val="404040"/>
                </a:solidFill>
                <a:latin typeface="Gotham Bold"/>
                <a:ea typeface="Gotham Bold"/>
                <a:cs typeface="Gotham Bold"/>
                <a:sym typeface="Gotham Bold"/>
              </a:rPr>
              <a:t>INTRODUCTION </a:t>
            </a:r>
          </a:p>
        </p:txBody>
      </p:sp>
      <p:sp>
        <p:nvSpPr>
          <p:cNvPr id="10" name="TextBox 10"/>
          <p:cNvSpPr txBox="1"/>
          <p:nvPr/>
        </p:nvSpPr>
        <p:spPr>
          <a:xfrm>
            <a:off x="2933510" y="2312443"/>
            <a:ext cx="14437135" cy="2223615"/>
          </a:xfrm>
          <a:prstGeom prst="rect">
            <a:avLst/>
          </a:prstGeom>
        </p:spPr>
        <p:txBody>
          <a:bodyPr lIns="0" tIns="0" rIns="0" bIns="0" rtlCol="0" anchor="t">
            <a:spAutoFit/>
          </a:bodyPr>
          <a:lstStyle/>
          <a:p>
            <a:pPr algn="l">
              <a:lnSpc>
                <a:spcPts val="4479"/>
              </a:lnSpc>
            </a:pPr>
            <a:r>
              <a:rPr lang="en-US" sz="3199" b="1">
                <a:solidFill>
                  <a:srgbClr val="5271FF"/>
                </a:solidFill>
                <a:latin typeface="Canva Sans Bold"/>
                <a:ea typeface="Canva Sans Bold"/>
                <a:cs typeface="Canva Sans Bold"/>
                <a:sym typeface="Canva Sans Bold"/>
              </a:rPr>
              <a:t>Structure of a Tree DS</a:t>
            </a:r>
          </a:p>
          <a:p>
            <a:pPr algn="l">
              <a:lnSpc>
                <a:spcPts val="4479"/>
              </a:lnSpc>
            </a:pPr>
            <a:endParaRPr lang="en-US" sz="3199" b="1">
              <a:solidFill>
                <a:srgbClr val="5271FF"/>
              </a:solidFill>
              <a:latin typeface="Canva Sans Bold"/>
              <a:ea typeface="Canva Sans Bold"/>
              <a:cs typeface="Canva Sans Bold"/>
              <a:sym typeface="Canva Sans Bold"/>
            </a:endParaRPr>
          </a:p>
          <a:p>
            <a:pPr algn="l">
              <a:lnSpc>
                <a:spcPts val="4479"/>
              </a:lnSpc>
            </a:pPr>
            <a:endParaRPr lang="en-US" sz="3199" b="1">
              <a:solidFill>
                <a:srgbClr val="5271FF"/>
              </a:solidFill>
              <a:latin typeface="Canva Sans Bold"/>
              <a:ea typeface="Canva Sans Bold"/>
              <a:cs typeface="Canva Sans Bold"/>
              <a:sym typeface="Canva Sans Bold"/>
            </a:endParaRPr>
          </a:p>
          <a:p>
            <a:pPr algn="l">
              <a:lnSpc>
                <a:spcPts val="4479"/>
              </a:lnSpc>
              <a:spcBef>
                <a:spcPct val="0"/>
              </a:spcBef>
            </a:pPr>
            <a:endParaRPr lang="en-US" sz="3199" b="1">
              <a:solidFill>
                <a:srgbClr val="5271FF"/>
              </a:solidFill>
              <a:latin typeface="Canva Sans Bold"/>
              <a:ea typeface="Canva Sans Bold"/>
              <a:cs typeface="Canva Sans Bold"/>
              <a:sym typeface="Canva Sans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grpSp>
        <p:nvGrpSpPr>
          <p:cNvPr id="2" name="Group 2"/>
          <p:cNvGrpSpPr/>
          <p:nvPr/>
        </p:nvGrpSpPr>
        <p:grpSpPr>
          <a:xfrm>
            <a:off x="576263" y="661308"/>
            <a:ext cx="17135475" cy="9056233"/>
            <a:chOff x="0" y="0"/>
            <a:chExt cx="4513047" cy="2385181"/>
          </a:xfrm>
        </p:grpSpPr>
        <p:sp>
          <p:nvSpPr>
            <p:cNvPr id="3" name="Freeform 3"/>
            <p:cNvSpPr/>
            <p:nvPr/>
          </p:nvSpPr>
          <p:spPr>
            <a:xfrm>
              <a:off x="0" y="0"/>
              <a:ext cx="4513047" cy="2385181"/>
            </a:xfrm>
            <a:custGeom>
              <a:avLst/>
              <a:gdLst/>
              <a:ahLst/>
              <a:cxnLst/>
              <a:rect l="l" t="t" r="r" b="b"/>
              <a:pathLst>
                <a:path w="4513047" h="2385181">
                  <a:moveTo>
                    <a:pt x="0" y="0"/>
                  </a:moveTo>
                  <a:lnTo>
                    <a:pt x="4513047" y="0"/>
                  </a:lnTo>
                  <a:lnTo>
                    <a:pt x="4513047" y="2385181"/>
                  </a:lnTo>
                  <a:lnTo>
                    <a:pt x="0" y="2385181"/>
                  </a:lnTo>
                  <a:close/>
                </a:path>
              </a:pathLst>
            </a:custGeom>
            <a:solidFill>
              <a:srgbClr val="000000">
                <a:alpha val="0"/>
              </a:srgbClr>
            </a:solidFill>
            <a:ln w="19050" cap="sq">
              <a:solidFill>
                <a:srgbClr val="404040"/>
              </a:solidFill>
              <a:prstDash val="solid"/>
              <a:miter/>
            </a:ln>
          </p:spPr>
        </p:sp>
        <p:sp>
          <p:nvSpPr>
            <p:cNvPr id="4" name="TextBox 4"/>
            <p:cNvSpPr txBox="1"/>
            <p:nvPr/>
          </p:nvSpPr>
          <p:spPr>
            <a:xfrm>
              <a:off x="0" y="-28575"/>
              <a:ext cx="4513047" cy="2413756"/>
            </a:xfrm>
            <a:prstGeom prst="rect">
              <a:avLst/>
            </a:prstGeom>
          </p:spPr>
          <p:txBody>
            <a:bodyPr lIns="50800" tIns="50800" rIns="50800" bIns="50800" rtlCol="0" anchor="ctr"/>
            <a:lstStyle/>
            <a:p>
              <a:pPr algn="ctr">
                <a:lnSpc>
                  <a:spcPts val="1960"/>
                </a:lnSpc>
              </a:pPr>
              <a:r>
                <a:rPr lang="en-US" sz="1400">
                  <a:solidFill>
                    <a:srgbClr val="000000"/>
                  </a:solidFill>
                  <a:latin typeface="Canva Sans"/>
                  <a:ea typeface="Canva Sans"/>
                  <a:cs typeface="Canva Sans"/>
                  <a:sym typeface="Canva Sans"/>
                </a:rPr>
                <a:t>rr</a:t>
              </a:r>
            </a:p>
          </p:txBody>
        </p:sp>
      </p:grpSp>
      <p:sp>
        <p:nvSpPr>
          <p:cNvPr id="5" name="Freeform 5"/>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5022740" y="3832998"/>
            <a:ext cx="8426219" cy="5425302"/>
          </a:xfrm>
          <a:custGeom>
            <a:avLst/>
            <a:gdLst/>
            <a:ahLst/>
            <a:cxnLst/>
            <a:rect l="l" t="t" r="r" b="b"/>
            <a:pathLst>
              <a:path w="8426219" h="5425302">
                <a:moveTo>
                  <a:pt x="0" y="0"/>
                </a:moveTo>
                <a:lnTo>
                  <a:pt x="8426219" y="0"/>
                </a:lnTo>
                <a:lnTo>
                  <a:pt x="8426219" y="5425302"/>
                </a:lnTo>
                <a:lnTo>
                  <a:pt x="0" y="5425302"/>
                </a:lnTo>
                <a:lnTo>
                  <a:pt x="0" y="0"/>
                </a:lnTo>
                <a:close/>
              </a:path>
            </a:pathLst>
          </a:custGeom>
          <a:blipFill>
            <a:blip r:embed="rId6"/>
            <a:stretch>
              <a:fillRect/>
            </a:stretch>
          </a:blipFill>
        </p:spPr>
      </p:sp>
      <p:sp>
        <p:nvSpPr>
          <p:cNvPr id="9" name="TextBox 9"/>
          <p:cNvSpPr txBox="1"/>
          <p:nvPr/>
        </p:nvSpPr>
        <p:spPr>
          <a:xfrm>
            <a:off x="4458460" y="1085820"/>
            <a:ext cx="8365973" cy="848360"/>
          </a:xfrm>
          <a:prstGeom prst="rect">
            <a:avLst/>
          </a:prstGeom>
        </p:spPr>
        <p:txBody>
          <a:bodyPr lIns="0" tIns="0" rIns="0" bIns="0" rtlCol="0" anchor="t">
            <a:spAutoFit/>
          </a:bodyPr>
          <a:lstStyle/>
          <a:p>
            <a:pPr algn="ctr">
              <a:lnSpc>
                <a:spcPts val="6399"/>
              </a:lnSpc>
            </a:pPr>
            <a:r>
              <a:rPr lang="en-US" sz="6399" b="1" spc="639">
                <a:solidFill>
                  <a:srgbClr val="404040"/>
                </a:solidFill>
                <a:latin typeface="Gotham Bold"/>
                <a:ea typeface="Gotham Bold"/>
                <a:cs typeface="Gotham Bold"/>
                <a:sym typeface="Gotham Bold"/>
              </a:rPr>
              <a:t>INTRODUCTION </a:t>
            </a:r>
          </a:p>
        </p:txBody>
      </p:sp>
      <p:sp>
        <p:nvSpPr>
          <p:cNvPr id="10" name="TextBox 10"/>
          <p:cNvSpPr txBox="1"/>
          <p:nvPr/>
        </p:nvSpPr>
        <p:spPr>
          <a:xfrm>
            <a:off x="2017282" y="2358368"/>
            <a:ext cx="14437135" cy="2223615"/>
          </a:xfrm>
          <a:prstGeom prst="rect">
            <a:avLst/>
          </a:prstGeom>
        </p:spPr>
        <p:txBody>
          <a:bodyPr lIns="0" tIns="0" rIns="0" bIns="0" rtlCol="0" anchor="t">
            <a:spAutoFit/>
          </a:bodyPr>
          <a:lstStyle/>
          <a:p>
            <a:pPr algn="l">
              <a:lnSpc>
                <a:spcPts val="4479"/>
              </a:lnSpc>
            </a:pPr>
            <a:r>
              <a:rPr lang="en-US" sz="3199" b="1">
                <a:solidFill>
                  <a:srgbClr val="5271FF"/>
                </a:solidFill>
                <a:latin typeface="Canva Sans Bold"/>
                <a:ea typeface="Canva Sans Bold"/>
                <a:cs typeface="Canva Sans Bold"/>
                <a:sym typeface="Canva Sans Bold"/>
              </a:rPr>
              <a:t>Structure of a Tree DS</a:t>
            </a:r>
          </a:p>
          <a:p>
            <a:pPr algn="l">
              <a:lnSpc>
                <a:spcPts val="4479"/>
              </a:lnSpc>
            </a:pPr>
            <a:endParaRPr lang="en-US" sz="3199" b="1">
              <a:solidFill>
                <a:srgbClr val="5271FF"/>
              </a:solidFill>
              <a:latin typeface="Canva Sans Bold"/>
              <a:ea typeface="Canva Sans Bold"/>
              <a:cs typeface="Canva Sans Bold"/>
              <a:sym typeface="Canva Sans Bold"/>
            </a:endParaRPr>
          </a:p>
          <a:p>
            <a:pPr algn="l">
              <a:lnSpc>
                <a:spcPts val="4479"/>
              </a:lnSpc>
            </a:pPr>
            <a:endParaRPr lang="en-US" sz="3199" b="1">
              <a:solidFill>
                <a:srgbClr val="5271FF"/>
              </a:solidFill>
              <a:latin typeface="Canva Sans Bold"/>
              <a:ea typeface="Canva Sans Bold"/>
              <a:cs typeface="Canva Sans Bold"/>
              <a:sym typeface="Canva Sans Bold"/>
            </a:endParaRPr>
          </a:p>
          <a:p>
            <a:pPr algn="l">
              <a:lnSpc>
                <a:spcPts val="4479"/>
              </a:lnSpc>
              <a:spcBef>
                <a:spcPct val="0"/>
              </a:spcBef>
            </a:pPr>
            <a:endParaRPr lang="en-US" sz="3199" b="1">
              <a:solidFill>
                <a:srgbClr val="5271FF"/>
              </a:solidFill>
              <a:latin typeface="Canva Sans Bold"/>
              <a:ea typeface="Canva Sans Bold"/>
              <a:cs typeface="Canva Sans Bold"/>
              <a:sym typeface="Canva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grpSp>
        <p:nvGrpSpPr>
          <p:cNvPr id="2" name="Group 2"/>
          <p:cNvGrpSpPr/>
          <p:nvPr/>
        </p:nvGrpSpPr>
        <p:grpSpPr>
          <a:xfrm>
            <a:off x="576263" y="339835"/>
            <a:ext cx="17135475" cy="9653254"/>
            <a:chOff x="0" y="0"/>
            <a:chExt cx="4513047" cy="2542421"/>
          </a:xfrm>
        </p:grpSpPr>
        <p:sp>
          <p:nvSpPr>
            <p:cNvPr id="3" name="Freeform 3"/>
            <p:cNvSpPr/>
            <p:nvPr/>
          </p:nvSpPr>
          <p:spPr>
            <a:xfrm>
              <a:off x="0" y="0"/>
              <a:ext cx="4513047" cy="2542421"/>
            </a:xfrm>
            <a:custGeom>
              <a:avLst/>
              <a:gdLst/>
              <a:ahLst/>
              <a:cxnLst/>
              <a:rect l="l" t="t" r="r" b="b"/>
              <a:pathLst>
                <a:path w="4513047" h="2542421">
                  <a:moveTo>
                    <a:pt x="0" y="0"/>
                  </a:moveTo>
                  <a:lnTo>
                    <a:pt x="4513047" y="0"/>
                  </a:lnTo>
                  <a:lnTo>
                    <a:pt x="4513047" y="2542421"/>
                  </a:lnTo>
                  <a:lnTo>
                    <a:pt x="0" y="2542421"/>
                  </a:lnTo>
                  <a:close/>
                </a:path>
              </a:pathLst>
            </a:custGeom>
            <a:solidFill>
              <a:srgbClr val="000000">
                <a:alpha val="0"/>
              </a:srgbClr>
            </a:solidFill>
            <a:ln w="19050" cap="sq">
              <a:solidFill>
                <a:srgbClr val="404040"/>
              </a:solidFill>
              <a:prstDash val="solid"/>
              <a:miter/>
            </a:ln>
          </p:spPr>
        </p:sp>
        <p:sp>
          <p:nvSpPr>
            <p:cNvPr id="4" name="TextBox 4"/>
            <p:cNvSpPr txBox="1"/>
            <p:nvPr/>
          </p:nvSpPr>
          <p:spPr>
            <a:xfrm>
              <a:off x="0" y="-28575"/>
              <a:ext cx="4513047" cy="2570996"/>
            </a:xfrm>
            <a:prstGeom prst="rect">
              <a:avLst/>
            </a:prstGeom>
          </p:spPr>
          <p:txBody>
            <a:bodyPr lIns="50800" tIns="50800" rIns="50800" bIns="50800" rtlCol="0" anchor="ctr"/>
            <a:lstStyle/>
            <a:p>
              <a:pPr algn="ctr">
                <a:lnSpc>
                  <a:spcPts val="1960"/>
                </a:lnSpc>
              </a:pPr>
              <a:r>
                <a:rPr lang="en-US" sz="1400">
                  <a:solidFill>
                    <a:srgbClr val="000000"/>
                  </a:solidFill>
                  <a:latin typeface="Canva Sans"/>
                  <a:ea typeface="Canva Sans"/>
                  <a:cs typeface="Canva Sans"/>
                  <a:sym typeface="Canva Sans"/>
                </a:rPr>
                <a:t>rr</a:t>
              </a:r>
            </a:p>
          </p:txBody>
        </p:sp>
      </p:grpSp>
      <p:sp>
        <p:nvSpPr>
          <p:cNvPr id="5" name="Freeform 5"/>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4458460" y="784840"/>
            <a:ext cx="8365973"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TERMINOLOGIES</a:t>
            </a:r>
          </a:p>
        </p:txBody>
      </p:sp>
      <p:sp>
        <p:nvSpPr>
          <p:cNvPr id="9" name="TextBox 9"/>
          <p:cNvSpPr txBox="1"/>
          <p:nvPr/>
        </p:nvSpPr>
        <p:spPr>
          <a:xfrm>
            <a:off x="1466755" y="1588180"/>
            <a:ext cx="15792545" cy="8404909"/>
          </a:xfrm>
          <a:prstGeom prst="rect">
            <a:avLst/>
          </a:prstGeom>
        </p:spPr>
        <p:txBody>
          <a:bodyPr lIns="0" tIns="0" rIns="0" bIns="0" rtlCol="0" anchor="t">
            <a:spAutoFit/>
          </a:bodyPr>
          <a:lstStyle/>
          <a:p>
            <a:pPr algn="l">
              <a:lnSpc>
                <a:spcPts val="4479"/>
              </a:lnSpc>
            </a:pPr>
            <a:r>
              <a:rPr lang="en-US" sz="3199" b="1">
                <a:solidFill>
                  <a:srgbClr val="5271FF"/>
                </a:solidFill>
                <a:latin typeface="Canva Sans Bold"/>
                <a:ea typeface="Canva Sans Bold"/>
                <a:cs typeface="Canva Sans Bold"/>
                <a:sym typeface="Canva Sans Bold"/>
              </a:rPr>
              <a:t>Terminologies  Associate with Tree DS</a:t>
            </a: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Parent Node:</a:t>
            </a:r>
            <a:r>
              <a:rPr lang="en-US" sz="3199" b="1">
                <a:solidFill>
                  <a:srgbClr val="5271FF"/>
                </a:solidFill>
                <a:latin typeface="Canva Sans Bold"/>
                <a:ea typeface="Canva Sans Bold"/>
                <a:cs typeface="Canva Sans Bold"/>
                <a:sym typeface="Canva Sans Bold"/>
              </a:rPr>
              <a:t> </a:t>
            </a:r>
            <a:r>
              <a:rPr lang="en-US" sz="3199" b="1">
                <a:solidFill>
                  <a:srgbClr val="000000"/>
                </a:solidFill>
                <a:latin typeface="Canva Sans Bold"/>
                <a:ea typeface="Canva Sans Bold"/>
                <a:cs typeface="Canva Sans Bold"/>
                <a:sym typeface="Canva Sans Bold"/>
              </a:rPr>
              <a:t>The node which is an immediate predecessor of a node is called the parent node of that node.</a:t>
            </a: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Child Node:</a:t>
            </a:r>
            <a:r>
              <a:rPr lang="en-US" sz="3199" b="1">
                <a:solidFill>
                  <a:srgbClr val="000000"/>
                </a:solidFill>
                <a:latin typeface="Canva Sans Bold"/>
                <a:ea typeface="Canva Sans Bold"/>
                <a:cs typeface="Canva Sans Bold"/>
                <a:sym typeface="Canva Sans Bold"/>
              </a:rPr>
              <a:t> The node which is the immediate successor of a node is called the child node of that node.</a:t>
            </a: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Root Node: </a:t>
            </a:r>
            <a:r>
              <a:rPr lang="en-US" sz="3199" b="1">
                <a:solidFill>
                  <a:srgbClr val="000000"/>
                </a:solidFill>
                <a:latin typeface="Canva Sans Bold"/>
                <a:ea typeface="Canva Sans Bold"/>
                <a:cs typeface="Canva Sans Bold"/>
                <a:sym typeface="Canva Sans Bold"/>
              </a:rPr>
              <a:t>The topmost node of a tree or the node which does not have any parent node is called the root node.</a:t>
            </a: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Leaf Node: </a:t>
            </a:r>
            <a:r>
              <a:rPr lang="en-US" sz="3199" b="1">
                <a:solidFill>
                  <a:srgbClr val="000000"/>
                </a:solidFill>
                <a:latin typeface="Canva Sans Bold"/>
                <a:ea typeface="Canva Sans Bold"/>
                <a:cs typeface="Canva Sans Bold"/>
                <a:sym typeface="Canva Sans Bold"/>
              </a:rPr>
              <a:t>The nodes which do not have any child nodes are called leaf nodes.</a:t>
            </a: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Ancestor of a Node:</a:t>
            </a:r>
            <a:r>
              <a:rPr lang="en-US" sz="3199" b="1">
                <a:solidFill>
                  <a:srgbClr val="000000"/>
                </a:solidFill>
                <a:latin typeface="Canva Sans Bold"/>
                <a:ea typeface="Canva Sans Bold"/>
                <a:cs typeface="Canva Sans Bold"/>
                <a:sym typeface="Canva Sans Bold"/>
              </a:rPr>
              <a:t> Any predecessor nodes on the path of the root to that node are called Ancestors of that node.</a:t>
            </a: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Descendant</a:t>
            </a:r>
            <a:r>
              <a:rPr lang="en-US" sz="3199" b="1">
                <a:solidFill>
                  <a:srgbClr val="000000"/>
                </a:solidFill>
                <a:latin typeface="Canva Sans Bold"/>
                <a:ea typeface="Canva Sans Bold"/>
                <a:cs typeface="Canva Sans Bold"/>
                <a:sym typeface="Canva Sans Bold"/>
              </a:rPr>
              <a:t>: A node x is a descendant of another node y if and only if y is an ancestor of x</a:t>
            </a: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Sibling: </a:t>
            </a:r>
            <a:r>
              <a:rPr lang="en-US" sz="3199" b="1">
                <a:solidFill>
                  <a:srgbClr val="000000"/>
                </a:solidFill>
                <a:latin typeface="Canva Sans Bold"/>
                <a:ea typeface="Canva Sans Bold"/>
                <a:cs typeface="Canva Sans Bold"/>
                <a:sym typeface="Canva Sans Bold"/>
              </a:rPr>
              <a:t>Children of the same parent node are called siblings. </a:t>
            </a:r>
          </a:p>
          <a:p>
            <a:pPr algn="l">
              <a:lnSpc>
                <a:spcPts val="4479"/>
              </a:lnSpc>
            </a:pPr>
            <a:endParaRPr lang="en-US" sz="3199" b="1">
              <a:solidFill>
                <a:srgbClr val="000000"/>
              </a:solidFill>
              <a:latin typeface="Canva Sans Bold"/>
              <a:ea typeface="Canva Sans Bold"/>
              <a:cs typeface="Canva Sans Bold"/>
              <a:sym typeface="Canva Sans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grpSp>
        <p:nvGrpSpPr>
          <p:cNvPr id="2" name="Group 2"/>
          <p:cNvGrpSpPr/>
          <p:nvPr/>
        </p:nvGrpSpPr>
        <p:grpSpPr>
          <a:xfrm>
            <a:off x="576263" y="339835"/>
            <a:ext cx="17135475" cy="9653254"/>
            <a:chOff x="0" y="0"/>
            <a:chExt cx="4513047" cy="2542421"/>
          </a:xfrm>
        </p:grpSpPr>
        <p:sp>
          <p:nvSpPr>
            <p:cNvPr id="3" name="Freeform 3"/>
            <p:cNvSpPr/>
            <p:nvPr/>
          </p:nvSpPr>
          <p:spPr>
            <a:xfrm>
              <a:off x="0" y="0"/>
              <a:ext cx="4513047" cy="2542421"/>
            </a:xfrm>
            <a:custGeom>
              <a:avLst/>
              <a:gdLst/>
              <a:ahLst/>
              <a:cxnLst/>
              <a:rect l="l" t="t" r="r" b="b"/>
              <a:pathLst>
                <a:path w="4513047" h="2542421">
                  <a:moveTo>
                    <a:pt x="0" y="0"/>
                  </a:moveTo>
                  <a:lnTo>
                    <a:pt x="4513047" y="0"/>
                  </a:lnTo>
                  <a:lnTo>
                    <a:pt x="4513047" y="2542421"/>
                  </a:lnTo>
                  <a:lnTo>
                    <a:pt x="0" y="2542421"/>
                  </a:lnTo>
                  <a:close/>
                </a:path>
              </a:pathLst>
            </a:custGeom>
            <a:solidFill>
              <a:srgbClr val="000000">
                <a:alpha val="0"/>
              </a:srgbClr>
            </a:solidFill>
            <a:ln w="19050" cap="sq">
              <a:solidFill>
                <a:srgbClr val="404040"/>
              </a:solidFill>
              <a:prstDash val="solid"/>
              <a:miter/>
            </a:ln>
          </p:spPr>
        </p:sp>
        <p:sp>
          <p:nvSpPr>
            <p:cNvPr id="4" name="TextBox 4"/>
            <p:cNvSpPr txBox="1"/>
            <p:nvPr/>
          </p:nvSpPr>
          <p:spPr>
            <a:xfrm>
              <a:off x="0" y="-28575"/>
              <a:ext cx="4513047" cy="2570996"/>
            </a:xfrm>
            <a:prstGeom prst="rect">
              <a:avLst/>
            </a:prstGeom>
          </p:spPr>
          <p:txBody>
            <a:bodyPr lIns="50800" tIns="50800" rIns="50800" bIns="50800" rtlCol="0" anchor="ctr"/>
            <a:lstStyle/>
            <a:p>
              <a:pPr algn="ctr">
                <a:lnSpc>
                  <a:spcPts val="1960"/>
                </a:lnSpc>
              </a:pPr>
              <a:r>
                <a:rPr lang="en-US" sz="1400">
                  <a:solidFill>
                    <a:srgbClr val="000000"/>
                  </a:solidFill>
                  <a:latin typeface="Canva Sans"/>
                  <a:ea typeface="Canva Sans"/>
                  <a:cs typeface="Canva Sans"/>
                  <a:sym typeface="Canva Sans"/>
                </a:rPr>
                <a:t>rr</a:t>
              </a:r>
            </a:p>
          </p:txBody>
        </p:sp>
      </p:grpSp>
      <p:sp>
        <p:nvSpPr>
          <p:cNvPr id="5" name="Freeform 5"/>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4458460" y="464780"/>
            <a:ext cx="8365973"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TERMINOLOGIES</a:t>
            </a:r>
          </a:p>
        </p:txBody>
      </p:sp>
      <p:sp>
        <p:nvSpPr>
          <p:cNvPr id="9" name="TextBox 9"/>
          <p:cNvSpPr txBox="1"/>
          <p:nvPr/>
        </p:nvSpPr>
        <p:spPr>
          <a:xfrm>
            <a:off x="1925433" y="971550"/>
            <a:ext cx="14437135" cy="10090717"/>
          </a:xfrm>
          <a:prstGeom prst="rect">
            <a:avLst/>
          </a:prstGeom>
        </p:spPr>
        <p:txBody>
          <a:bodyPr lIns="0" tIns="0" rIns="0" bIns="0" rtlCol="0" anchor="t">
            <a:spAutoFit/>
          </a:bodyPr>
          <a:lstStyle/>
          <a:p>
            <a:pPr algn="l">
              <a:lnSpc>
                <a:spcPts val="4479"/>
              </a:lnSpc>
            </a:pPr>
            <a:r>
              <a:rPr lang="en-US" sz="3199" b="1">
                <a:solidFill>
                  <a:srgbClr val="5271FF"/>
                </a:solidFill>
                <a:latin typeface="Canva Sans Bold"/>
                <a:ea typeface="Canva Sans Bold"/>
                <a:cs typeface="Canva Sans Bold"/>
                <a:sym typeface="Canva Sans Bold"/>
              </a:rPr>
              <a:t>Terminologies  Associate with Tree DS</a:t>
            </a: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Level of a node:</a:t>
            </a:r>
            <a:r>
              <a:rPr lang="en-US" sz="3199" b="1">
                <a:solidFill>
                  <a:srgbClr val="000000"/>
                </a:solidFill>
                <a:latin typeface="Canva Sans Bold"/>
                <a:ea typeface="Canva Sans Bold"/>
                <a:cs typeface="Canva Sans Bold"/>
                <a:sym typeface="Canva Sans Bold"/>
              </a:rPr>
              <a:t> The count of edges on the path from the root node to that node. The root node has level 0.</a:t>
            </a:r>
          </a:p>
          <a:p>
            <a:pPr algn="l">
              <a:lnSpc>
                <a:spcPts val="4479"/>
              </a:lnSpc>
            </a:pPr>
            <a:endParaRPr lang="en-US" sz="3199" b="1">
              <a:solidFill>
                <a:srgbClr val="000000"/>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Internal node:</a:t>
            </a:r>
            <a:r>
              <a:rPr lang="en-US" sz="3199" b="1">
                <a:solidFill>
                  <a:srgbClr val="000000"/>
                </a:solidFill>
                <a:latin typeface="Canva Sans Bold"/>
                <a:ea typeface="Canva Sans Bold"/>
                <a:cs typeface="Canva Sans Bold"/>
                <a:sym typeface="Canva Sans Bold"/>
              </a:rPr>
              <a:t> A node with at least one child is called Internal Node.</a:t>
            </a:r>
          </a:p>
          <a:p>
            <a:pPr algn="l">
              <a:lnSpc>
                <a:spcPts val="4479"/>
              </a:lnSpc>
            </a:pPr>
            <a:endParaRPr lang="en-US" sz="3199" b="1">
              <a:solidFill>
                <a:srgbClr val="000000"/>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Neighbor of a Node:</a:t>
            </a:r>
            <a:r>
              <a:rPr lang="en-US" sz="3199" b="1">
                <a:solidFill>
                  <a:srgbClr val="000000"/>
                </a:solidFill>
                <a:latin typeface="Canva Sans Bold"/>
                <a:ea typeface="Canva Sans Bold"/>
                <a:cs typeface="Canva Sans Bold"/>
                <a:sym typeface="Canva Sans Bold"/>
              </a:rPr>
              <a:t> Parent or child nodes of that node are called neighbors of that node.</a:t>
            </a:r>
          </a:p>
          <a:p>
            <a:pPr algn="l">
              <a:lnSpc>
                <a:spcPts val="4479"/>
              </a:lnSpc>
            </a:pPr>
            <a:endParaRPr lang="en-US" sz="3199" b="1">
              <a:solidFill>
                <a:srgbClr val="000000"/>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Subtree:</a:t>
            </a:r>
            <a:r>
              <a:rPr lang="en-US" sz="3199" b="1">
                <a:solidFill>
                  <a:srgbClr val="000000"/>
                </a:solidFill>
                <a:latin typeface="Canva Sans Bold"/>
                <a:ea typeface="Canva Sans Bold"/>
                <a:cs typeface="Canva Sans Bold"/>
                <a:sym typeface="Canva Sans Bold"/>
              </a:rPr>
              <a:t> Any node of the tree along with its descendant.</a:t>
            </a:r>
          </a:p>
          <a:p>
            <a:pPr algn="l">
              <a:lnSpc>
                <a:spcPts val="4479"/>
              </a:lnSpc>
            </a:pPr>
            <a:endParaRPr lang="en-US" sz="3199" b="1">
              <a:solidFill>
                <a:srgbClr val="000000"/>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Height:</a:t>
            </a:r>
            <a:r>
              <a:rPr lang="en-US" sz="3199" b="1">
                <a:solidFill>
                  <a:srgbClr val="000000"/>
                </a:solidFill>
                <a:latin typeface="Canva Sans Bold"/>
                <a:ea typeface="Canva Sans Bold"/>
                <a:cs typeface="Canva Sans Bold"/>
                <a:sym typeface="Canva Sans Bold"/>
              </a:rPr>
              <a:t> The number of edges from the root node to the deepest leaf node</a:t>
            </a:r>
          </a:p>
          <a:p>
            <a:pPr algn="l">
              <a:lnSpc>
                <a:spcPts val="4479"/>
              </a:lnSpc>
            </a:pPr>
            <a:endParaRPr lang="en-US" sz="3199" b="1">
              <a:solidFill>
                <a:srgbClr val="000000"/>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Size of the tree: </a:t>
            </a:r>
            <a:r>
              <a:rPr lang="en-US" sz="3199" b="1">
                <a:solidFill>
                  <a:srgbClr val="000000"/>
                </a:solidFill>
                <a:latin typeface="Canva Sans Bold"/>
                <a:ea typeface="Canva Sans Bold"/>
                <a:cs typeface="Canva Sans Bold"/>
                <a:sym typeface="Canva Sans Bold"/>
              </a:rPr>
              <a:t>number of nodes in the tree.</a:t>
            </a:r>
          </a:p>
          <a:p>
            <a:pPr algn="l">
              <a:lnSpc>
                <a:spcPts val="4479"/>
              </a:lnSpc>
            </a:pPr>
            <a:endParaRPr lang="en-US" sz="3199" b="1">
              <a:solidFill>
                <a:srgbClr val="000000"/>
              </a:solidFill>
              <a:latin typeface="Canva Sans Bold"/>
              <a:ea typeface="Canva Sans Bold"/>
              <a:cs typeface="Canva Sans Bold"/>
              <a:sym typeface="Canva Sans Bold"/>
            </a:endParaRPr>
          </a:p>
          <a:p>
            <a:pPr algn="l">
              <a:lnSpc>
                <a:spcPts val="4479"/>
              </a:lnSpc>
            </a:pPr>
            <a:endParaRPr lang="en-US" sz="3199" b="1">
              <a:solidFill>
                <a:srgbClr val="000000"/>
              </a:solidFill>
              <a:latin typeface="Canva Sans Bold"/>
              <a:ea typeface="Canva Sans Bold"/>
              <a:cs typeface="Canva Sans Bold"/>
              <a:sym typeface="Canva Sans Bold"/>
            </a:endParaRPr>
          </a:p>
          <a:p>
            <a:pPr algn="l">
              <a:lnSpc>
                <a:spcPts val="4479"/>
              </a:lnSpc>
            </a:pPr>
            <a:endParaRPr lang="en-US" sz="3199" b="1">
              <a:solidFill>
                <a:srgbClr val="000000"/>
              </a:solidFill>
              <a:latin typeface="Canva Sans Bold"/>
              <a:ea typeface="Canva Sans Bold"/>
              <a:cs typeface="Canva Sans Bold"/>
              <a:sym typeface="Canva Sans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grpSp>
        <p:nvGrpSpPr>
          <p:cNvPr id="2" name="Group 2"/>
          <p:cNvGrpSpPr/>
          <p:nvPr/>
        </p:nvGrpSpPr>
        <p:grpSpPr>
          <a:xfrm>
            <a:off x="576263" y="661308"/>
            <a:ext cx="17135475" cy="9056233"/>
            <a:chOff x="0" y="0"/>
            <a:chExt cx="4513047" cy="2385181"/>
          </a:xfrm>
        </p:grpSpPr>
        <p:sp>
          <p:nvSpPr>
            <p:cNvPr id="3" name="Freeform 3"/>
            <p:cNvSpPr/>
            <p:nvPr/>
          </p:nvSpPr>
          <p:spPr>
            <a:xfrm>
              <a:off x="0" y="0"/>
              <a:ext cx="4513047" cy="2385181"/>
            </a:xfrm>
            <a:custGeom>
              <a:avLst/>
              <a:gdLst/>
              <a:ahLst/>
              <a:cxnLst/>
              <a:rect l="l" t="t" r="r" b="b"/>
              <a:pathLst>
                <a:path w="4513047" h="2385181">
                  <a:moveTo>
                    <a:pt x="0" y="0"/>
                  </a:moveTo>
                  <a:lnTo>
                    <a:pt x="4513047" y="0"/>
                  </a:lnTo>
                  <a:lnTo>
                    <a:pt x="4513047" y="2385181"/>
                  </a:lnTo>
                  <a:lnTo>
                    <a:pt x="0" y="2385181"/>
                  </a:lnTo>
                  <a:close/>
                </a:path>
              </a:pathLst>
            </a:custGeom>
            <a:solidFill>
              <a:srgbClr val="000000">
                <a:alpha val="0"/>
              </a:srgbClr>
            </a:solidFill>
            <a:ln w="19050" cap="sq">
              <a:solidFill>
                <a:srgbClr val="404040"/>
              </a:solidFill>
              <a:prstDash val="solid"/>
              <a:miter/>
            </a:ln>
          </p:spPr>
        </p:sp>
        <p:sp>
          <p:nvSpPr>
            <p:cNvPr id="4" name="TextBox 4"/>
            <p:cNvSpPr txBox="1"/>
            <p:nvPr/>
          </p:nvSpPr>
          <p:spPr>
            <a:xfrm>
              <a:off x="0" y="-28575"/>
              <a:ext cx="4513047" cy="2413756"/>
            </a:xfrm>
            <a:prstGeom prst="rect">
              <a:avLst/>
            </a:prstGeom>
          </p:spPr>
          <p:txBody>
            <a:bodyPr lIns="50800" tIns="50800" rIns="50800" bIns="50800" rtlCol="0" anchor="ctr"/>
            <a:lstStyle/>
            <a:p>
              <a:pPr algn="ctr">
                <a:lnSpc>
                  <a:spcPts val="1960"/>
                </a:lnSpc>
              </a:pPr>
              <a:r>
                <a:rPr lang="en-US" sz="1400">
                  <a:solidFill>
                    <a:srgbClr val="000000"/>
                  </a:solidFill>
                  <a:latin typeface="Canva Sans"/>
                  <a:ea typeface="Canva Sans"/>
                  <a:cs typeface="Canva Sans"/>
                  <a:sym typeface="Canva Sans"/>
                </a:rPr>
                <a:t>rr</a:t>
              </a:r>
            </a:p>
          </p:txBody>
        </p:sp>
      </p:grpSp>
      <p:sp>
        <p:nvSpPr>
          <p:cNvPr id="5" name="Freeform 5"/>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3636234" y="3239297"/>
            <a:ext cx="11199231" cy="5599616"/>
          </a:xfrm>
          <a:custGeom>
            <a:avLst/>
            <a:gdLst/>
            <a:ahLst/>
            <a:cxnLst/>
            <a:rect l="l" t="t" r="r" b="b"/>
            <a:pathLst>
              <a:path w="11199231" h="5599616">
                <a:moveTo>
                  <a:pt x="0" y="0"/>
                </a:moveTo>
                <a:lnTo>
                  <a:pt x="11199231" y="0"/>
                </a:lnTo>
                <a:lnTo>
                  <a:pt x="11199231" y="5599616"/>
                </a:lnTo>
                <a:lnTo>
                  <a:pt x="0" y="5599616"/>
                </a:lnTo>
                <a:lnTo>
                  <a:pt x="0" y="0"/>
                </a:lnTo>
                <a:close/>
              </a:path>
            </a:pathLst>
          </a:custGeom>
          <a:blipFill>
            <a:blip r:embed="rId6"/>
            <a:stretch>
              <a:fillRect/>
            </a:stretch>
          </a:blipFill>
        </p:spPr>
      </p:sp>
      <p:sp>
        <p:nvSpPr>
          <p:cNvPr id="9" name="TextBox 9"/>
          <p:cNvSpPr txBox="1"/>
          <p:nvPr/>
        </p:nvSpPr>
        <p:spPr>
          <a:xfrm>
            <a:off x="4458460" y="1085820"/>
            <a:ext cx="8365973" cy="848360"/>
          </a:xfrm>
          <a:prstGeom prst="rect">
            <a:avLst/>
          </a:prstGeom>
        </p:spPr>
        <p:txBody>
          <a:bodyPr lIns="0" tIns="0" rIns="0" bIns="0" rtlCol="0" anchor="t">
            <a:spAutoFit/>
          </a:bodyPr>
          <a:lstStyle/>
          <a:p>
            <a:pPr algn="ctr">
              <a:lnSpc>
                <a:spcPts val="6399"/>
              </a:lnSpc>
            </a:pPr>
            <a:r>
              <a:rPr lang="en-US" sz="6399" b="1" spc="639">
                <a:solidFill>
                  <a:srgbClr val="404040"/>
                </a:solidFill>
                <a:latin typeface="Gotham Bold"/>
                <a:ea typeface="Gotham Bold"/>
                <a:cs typeface="Gotham Bold"/>
                <a:sym typeface="Gotham Bold"/>
              </a:rPr>
              <a:t>TYPES OF TREES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grpSp>
        <p:nvGrpSpPr>
          <p:cNvPr id="2" name="Group 2"/>
          <p:cNvGrpSpPr/>
          <p:nvPr/>
        </p:nvGrpSpPr>
        <p:grpSpPr>
          <a:xfrm>
            <a:off x="576263" y="339835"/>
            <a:ext cx="17135475" cy="9653254"/>
            <a:chOff x="0" y="0"/>
            <a:chExt cx="4513047" cy="2542421"/>
          </a:xfrm>
        </p:grpSpPr>
        <p:sp>
          <p:nvSpPr>
            <p:cNvPr id="3" name="Freeform 3"/>
            <p:cNvSpPr/>
            <p:nvPr/>
          </p:nvSpPr>
          <p:spPr>
            <a:xfrm>
              <a:off x="0" y="0"/>
              <a:ext cx="4513047" cy="2542421"/>
            </a:xfrm>
            <a:custGeom>
              <a:avLst/>
              <a:gdLst/>
              <a:ahLst/>
              <a:cxnLst/>
              <a:rect l="l" t="t" r="r" b="b"/>
              <a:pathLst>
                <a:path w="4513047" h="2542421">
                  <a:moveTo>
                    <a:pt x="0" y="0"/>
                  </a:moveTo>
                  <a:lnTo>
                    <a:pt x="4513047" y="0"/>
                  </a:lnTo>
                  <a:lnTo>
                    <a:pt x="4513047" y="2542421"/>
                  </a:lnTo>
                  <a:lnTo>
                    <a:pt x="0" y="2542421"/>
                  </a:lnTo>
                  <a:close/>
                </a:path>
              </a:pathLst>
            </a:custGeom>
            <a:solidFill>
              <a:srgbClr val="000000">
                <a:alpha val="0"/>
              </a:srgbClr>
            </a:solidFill>
            <a:ln w="19050" cap="sq">
              <a:solidFill>
                <a:srgbClr val="404040"/>
              </a:solidFill>
              <a:prstDash val="solid"/>
              <a:miter/>
            </a:ln>
          </p:spPr>
        </p:sp>
        <p:sp>
          <p:nvSpPr>
            <p:cNvPr id="4" name="TextBox 4"/>
            <p:cNvSpPr txBox="1"/>
            <p:nvPr/>
          </p:nvSpPr>
          <p:spPr>
            <a:xfrm>
              <a:off x="0" y="-28575"/>
              <a:ext cx="4513047" cy="2570996"/>
            </a:xfrm>
            <a:prstGeom prst="rect">
              <a:avLst/>
            </a:prstGeom>
          </p:spPr>
          <p:txBody>
            <a:bodyPr lIns="50800" tIns="50800" rIns="50800" bIns="50800" rtlCol="0" anchor="ctr"/>
            <a:lstStyle/>
            <a:p>
              <a:pPr algn="ctr">
                <a:lnSpc>
                  <a:spcPts val="1960"/>
                </a:lnSpc>
              </a:pPr>
              <a:r>
                <a:rPr lang="en-US" sz="1400">
                  <a:solidFill>
                    <a:srgbClr val="000000"/>
                  </a:solidFill>
                  <a:latin typeface="Canva Sans"/>
                  <a:ea typeface="Canva Sans"/>
                  <a:cs typeface="Canva Sans"/>
                  <a:sym typeface="Canva Sans"/>
                </a:rPr>
                <a:t>rr</a:t>
              </a:r>
            </a:p>
          </p:txBody>
        </p:sp>
      </p:grpSp>
      <p:sp>
        <p:nvSpPr>
          <p:cNvPr id="5" name="Freeform 5"/>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5329447" y="4200877"/>
            <a:ext cx="8823149" cy="5680658"/>
          </a:xfrm>
          <a:custGeom>
            <a:avLst/>
            <a:gdLst/>
            <a:ahLst/>
            <a:cxnLst/>
            <a:rect l="l" t="t" r="r" b="b"/>
            <a:pathLst>
              <a:path w="8823149" h="5680658">
                <a:moveTo>
                  <a:pt x="0" y="0"/>
                </a:moveTo>
                <a:lnTo>
                  <a:pt x="8823148" y="0"/>
                </a:lnTo>
                <a:lnTo>
                  <a:pt x="8823148" y="5680657"/>
                </a:lnTo>
                <a:lnTo>
                  <a:pt x="0" y="5680657"/>
                </a:lnTo>
                <a:lnTo>
                  <a:pt x="0" y="0"/>
                </a:lnTo>
                <a:close/>
              </a:path>
            </a:pathLst>
          </a:custGeom>
          <a:blipFill>
            <a:blip r:embed="rId6"/>
            <a:stretch>
              <a:fillRect/>
            </a:stretch>
          </a:blipFill>
        </p:spPr>
      </p:sp>
      <p:sp>
        <p:nvSpPr>
          <p:cNvPr id="9" name="TextBox 9"/>
          <p:cNvSpPr txBox="1"/>
          <p:nvPr/>
        </p:nvSpPr>
        <p:spPr>
          <a:xfrm>
            <a:off x="4458460" y="784840"/>
            <a:ext cx="8365973"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TREES</a:t>
            </a:r>
          </a:p>
        </p:txBody>
      </p:sp>
      <p:sp>
        <p:nvSpPr>
          <p:cNvPr id="10" name="TextBox 10"/>
          <p:cNvSpPr txBox="1"/>
          <p:nvPr/>
        </p:nvSpPr>
        <p:spPr>
          <a:xfrm>
            <a:off x="1925433" y="1977262"/>
            <a:ext cx="14437135" cy="2223615"/>
          </a:xfrm>
          <a:prstGeom prst="rect">
            <a:avLst/>
          </a:prstGeom>
        </p:spPr>
        <p:txBody>
          <a:bodyPr lIns="0" tIns="0" rIns="0" bIns="0" rtlCol="0" anchor="t">
            <a:spAutoFit/>
          </a:bodyPr>
          <a:lstStyle/>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 A hierarchical data structure in which each node has at most two children ( the left child and the right child)</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commonly used in computer science for efficient storage and retrieval of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028700" y="3024514"/>
            <a:ext cx="15505063" cy="5814399"/>
          </a:xfrm>
          <a:custGeom>
            <a:avLst/>
            <a:gdLst/>
            <a:ahLst/>
            <a:cxnLst/>
            <a:rect l="l" t="t" r="r" b="b"/>
            <a:pathLst>
              <a:path w="15505063" h="5814399">
                <a:moveTo>
                  <a:pt x="0" y="0"/>
                </a:moveTo>
                <a:lnTo>
                  <a:pt x="15505063" y="0"/>
                </a:lnTo>
                <a:lnTo>
                  <a:pt x="15505063" y="5814399"/>
                </a:lnTo>
                <a:lnTo>
                  <a:pt x="0" y="5814399"/>
                </a:lnTo>
                <a:lnTo>
                  <a:pt x="0" y="0"/>
                </a:lnTo>
                <a:close/>
              </a:path>
            </a:pathLst>
          </a:custGeom>
          <a:blipFill>
            <a:blip r:embed="rId6"/>
            <a:stretch>
              <a:fillRect/>
            </a:stretch>
          </a:blipFill>
        </p:spPr>
      </p:sp>
      <p:sp>
        <p:nvSpPr>
          <p:cNvPr id="6" name="TextBox 6"/>
          <p:cNvSpPr txBox="1"/>
          <p:nvPr/>
        </p:nvSpPr>
        <p:spPr>
          <a:xfrm>
            <a:off x="3722194" y="784840"/>
            <a:ext cx="12636969"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TYPES OF BINARY  TREE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804959" y="2110286"/>
            <a:ext cx="10442789" cy="7627148"/>
          </a:xfrm>
          <a:prstGeom prst="rect">
            <a:avLst/>
          </a:prstGeom>
        </p:spPr>
        <p:txBody>
          <a:bodyPr lIns="0" tIns="0" rIns="0" bIns="0" rtlCol="0" anchor="t">
            <a:spAutoFit/>
          </a:bodyPr>
          <a:lstStyle/>
          <a:p>
            <a:pPr algn="l">
              <a:lnSpc>
                <a:spcPts val="5084"/>
              </a:lnSpc>
            </a:pPr>
            <a:r>
              <a:rPr lang="en-US" sz="3631" b="1">
                <a:solidFill>
                  <a:srgbClr val="004AAD"/>
                </a:solidFill>
                <a:latin typeface="Canva Sans Bold"/>
                <a:ea typeface="Canva Sans Bold"/>
                <a:cs typeface="Canva Sans Bold"/>
                <a:sym typeface="Canva Sans Bold"/>
              </a:rPr>
              <a:t> Full Binary Tree</a:t>
            </a:r>
          </a:p>
          <a:p>
            <a:pPr marL="784053" lvl="1" indent="-392026" algn="l">
              <a:lnSpc>
                <a:spcPts val="5084"/>
              </a:lnSpc>
              <a:buFont typeface="Arial"/>
              <a:buChar char="•"/>
            </a:pPr>
            <a:r>
              <a:rPr lang="en-US" sz="3631" b="1">
                <a:solidFill>
                  <a:srgbClr val="000000"/>
                </a:solidFill>
                <a:latin typeface="Canva Sans Bold"/>
                <a:ea typeface="Canva Sans Bold"/>
                <a:cs typeface="Canva Sans Bold"/>
                <a:sym typeface="Canva Sans Bold"/>
              </a:rPr>
              <a:t>A Binary Tree is a full binary tree if every node has 0 or 2 children</a:t>
            </a:r>
          </a:p>
          <a:p>
            <a:pPr marL="784053" lvl="1" indent="-392026" algn="l">
              <a:lnSpc>
                <a:spcPts val="5084"/>
              </a:lnSpc>
              <a:buFont typeface="Arial"/>
              <a:buChar char="•"/>
            </a:pPr>
            <a:r>
              <a:rPr lang="en-US" sz="3631" b="1">
                <a:solidFill>
                  <a:srgbClr val="000000"/>
                </a:solidFill>
                <a:latin typeface="Canva Sans Bold"/>
                <a:ea typeface="Canva Sans Bold"/>
                <a:cs typeface="Canva Sans Bold"/>
                <a:sym typeface="Canva Sans Bold"/>
              </a:rPr>
              <a:t>In other words, a full binary tree is a binary tree in which all nodes except leaf nodes have two children</a:t>
            </a:r>
          </a:p>
          <a:p>
            <a:pPr marL="784053" lvl="1" indent="-392026" algn="l">
              <a:lnSpc>
                <a:spcPts val="5084"/>
              </a:lnSpc>
              <a:buFont typeface="Arial"/>
              <a:buChar char="•"/>
            </a:pPr>
            <a:r>
              <a:rPr lang="en-US" sz="3631" b="1">
                <a:solidFill>
                  <a:srgbClr val="000000"/>
                </a:solidFill>
                <a:latin typeface="Canva Sans Bold"/>
                <a:ea typeface="Canva Sans Bold"/>
                <a:cs typeface="Canva Sans Bold"/>
                <a:sym typeface="Canva Sans Bold"/>
              </a:rPr>
              <a:t>A special type of binary tree in which every parent node/internal node has either two or no children. </a:t>
            </a:r>
          </a:p>
          <a:p>
            <a:pPr marL="784053" lvl="1" indent="-392026" algn="l">
              <a:lnSpc>
                <a:spcPts val="5084"/>
              </a:lnSpc>
              <a:buFont typeface="Arial"/>
              <a:buChar char="•"/>
            </a:pPr>
            <a:r>
              <a:rPr lang="en-US" sz="3631" b="1">
                <a:solidFill>
                  <a:srgbClr val="000000"/>
                </a:solidFill>
                <a:latin typeface="Canva Sans Bold"/>
                <a:ea typeface="Canva Sans Bold"/>
                <a:cs typeface="Canva Sans Bold"/>
                <a:sym typeface="Canva Sans Bold"/>
              </a:rPr>
              <a:t>It is also known as a</a:t>
            </a:r>
            <a:r>
              <a:rPr lang="en-US" sz="3631" b="1">
                <a:solidFill>
                  <a:srgbClr val="004AAD"/>
                </a:solidFill>
                <a:latin typeface="Canva Sans Bold"/>
                <a:ea typeface="Canva Sans Bold"/>
                <a:cs typeface="Canva Sans Bold"/>
                <a:sym typeface="Canva Sans Bold"/>
              </a:rPr>
              <a:t> proper binary tree</a:t>
            </a:r>
            <a:r>
              <a:rPr lang="en-US" sz="3631" b="1">
                <a:solidFill>
                  <a:srgbClr val="000000"/>
                </a:solidFill>
                <a:latin typeface="Canva Sans Bold"/>
                <a:ea typeface="Canva Sans Bold"/>
                <a:cs typeface="Canva Sans Bold"/>
                <a:sym typeface="Canva Sans Bold"/>
              </a:rPr>
              <a:t>.</a:t>
            </a:r>
          </a:p>
          <a:p>
            <a:pPr algn="l">
              <a:lnSpc>
                <a:spcPts val="5084"/>
              </a:lnSpc>
            </a:pPr>
            <a:endParaRPr lang="en-US" sz="3631" b="1">
              <a:solidFill>
                <a:srgbClr val="000000"/>
              </a:solidFill>
              <a:latin typeface="Canva Sans Bold"/>
              <a:ea typeface="Canva Sans Bold"/>
              <a:cs typeface="Canva Sans Bold"/>
              <a:sym typeface="Canva Sans Bold"/>
            </a:endParaRPr>
          </a:p>
          <a:p>
            <a:pPr algn="l">
              <a:lnSpc>
                <a:spcPts val="5084"/>
              </a:lnSpc>
            </a:pPr>
            <a:endParaRPr lang="en-US" sz="3631" b="1">
              <a:solidFill>
                <a:srgbClr val="000000"/>
              </a:solidFill>
              <a:latin typeface="Canva Sans Bold"/>
              <a:ea typeface="Canva Sans Bold"/>
              <a:cs typeface="Canva Sans Bold"/>
              <a:sym typeface="Canva Sans Bold"/>
            </a:endParaRPr>
          </a:p>
        </p:txBody>
      </p:sp>
      <p:sp>
        <p:nvSpPr>
          <p:cNvPr id="6" name="Freeform 6"/>
          <p:cNvSpPr/>
          <p:nvPr/>
        </p:nvSpPr>
        <p:spPr>
          <a:xfrm>
            <a:off x="11761790" y="2438995"/>
            <a:ext cx="5883890" cy="5409009"/>
          </a:xfrm>
          <a:custGeom>
            <a:avLst/>
            <a:gdLst/>
            <a:ahLst/>
            <a:cxnLst/>
            <a:rect l="l" t="t" r="r" b="b"/>
            <a:pathLst>
              <a:path w="5883890" h="5409009">
                <a:moveTo>
                  <a:pt x="0" y="0"/>
                </a:moveTo>
                <a:lnTo>
                  <a:pt x="5883891" y="0"/>
                </a:lnTo>
                <a:lnTo>
                  <a:pt x="5883891" y="5409010"/>
                </a:lnTo>
                <a:lnTo>
                  <a:pt x="0" y="5409010"/>
                </a:lnTo>
                <a:lnTo>
                  <a:pt x="0" y="0"/>
                </a:lnTo>
                <a:close/>
              </a:path>
            </a:pathLst>
          </a:custGeom>
          <a:blipFill>
            <a:blip r:embed="rId6"/>
            <a:stretch>
              <a:fillRect/>
            </a:stretch>
          </a:blipFill>
        </p:spPr>
      </p:sp>
      <p:sp>
        <p:nvSpPr>
          <p:cNvPr id="7" name="TextBox 7"/>
          <p:cNvSpPr txBox="1"/>
          <p:nvPr/>
        </p:nvSpPr>
        <p:spPr>
          <a:xfrm>
            <a:off x="3722194" y="784840"/>
            <a:ext cx="12636969"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TYPES OF BINARY  TREE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1789886" y="1853582"/>
            <a:ext cx="5469414" cy="6207455"/>
          </a:xfrm>
          <a:custGeom>
            <a:avLst/>
            <a:gdLst/>
            <a:ahLst/>
            <a:cxnLst/>
            <a:rect l="l" t="t" r="r" b="b"/>
            <a:pathLst>
              <a:path w="5469414" h="6207455">
                <a:moveTo>
                  <a:pt x="0" y="0"/>
                </a:moveTo>
                <a:lnTo>
                  <a:pt x="5469414" y="0"/>
                </a:lnTo>
                <a:lnTo>
                  <a:pt x="5469414" y="6207455"/>
                </a:lnTo>
                <a:lnTo>
                  <a:pt x="0" y="6207455"/>
                </a:lnTo>
                <a:lnTo>
                  <a:pt x="0" y="0"/>
                </a:lnTo>
                <a:close/>
              </a:path>
            </a:pathLst>
          </a:custGeom>
          <a:blipFill>
            <a:blip r:embed="rId6"/>
            <a:stretch>
              <a:fillRect/>
            </a:stretch>
          </a:blipFill>
        </p:spPr>
      </p:sp>
      <p:sp>
        <p:nvSpPr>
          <p:cNvPr id="6" name="TextBox 6"/>
          <p:cNvSpPr txBox="1"/>
          <p:nvPr/>
        </p:nvSpPr>
        <p:spPr>
          <a:xfrm>
            <a:off x="1466755" y="1796432"/>
            <a:ext cx="9109871" cy="5033294"/>
          </a:xfrm>
          <a:prstGeom prst="rect">
            <a:avLst/>
          </a:prstGeom>
        </p:spPr>
        <p:txBody>
          <a:bodyPr lIns="0" tIns="0" rIns="0" bIns="0" rtlCol="0" anchor="t">
            <a:spAutoFit/>
          </a:bodyPr>
          <a:lstStyle/>
          <a:p>
            <a:pPr algn="l">
              <a:lnSpc>
                <a:spcPts val="4479"/>
              </a:lnSpc>
            </a:pPr>
            <a:r>
              <a:rPr lang="en-US" sz="3199" b="1">
                <a:solidFill>
                  <a:srgbClr val="004AAD"/>
                </a:solidFill>
                <a:latin typeface="Canva Sans Bold"/>
                <a:ea typeface="Canva Sans Bold"/>
                <a:cs typeface="Canva Sans Bold"/>
                <a:sym typeface="Canva Sans Bold"/>
              </a:rPr>
              <a:t> Degenerate Tree</a:t>
            </a:r>
          </a:p>
          <a:p>
            <a:pPr algn="l">
              <a:lnSpc>
                <a:spcPts val="4479"/>
              </a:lnSpc>
            </a:pPr>
            <a:endParaRPr lang="en-US" sz="3199" b="1">
              <a:solidFill>
                <a:srgbClr val="004AAD"/>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A Tree where every internal node has one child.</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Perform as a linked list</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Each non leaf node has a one child, either as left or right node</a:t>
            </a:r>
          </a:p>
          <a:p>
            <a:pPr algn="l">
              <a:lnSpc>
                <a:spcPts val="4479"/>
              </a:lnSpc>
            </a:pPr>
            <a:endParaRPr lang="en-US" sz="3199" b="1">
              <a:solidFill>
                <a:srgbClr val="000000"/>
              </a:solidFill>
              <a:latin typeface="Canva Sans Bold"/>
              <a:ea typeface="Canva Sans Bold"/>
              <a:cs typeface="Canva Sans Bold"/>
              <a:sym typeface="Canva Sans Bold"/>
            </a:endParaRPr>
          </a:p>
          <a:p>
            <a:pPr algn="l">
              <a:lnSpc>
                <a:spcPts val="4479"/>
              </a:lnSpc>
            </a:pPr>
            <a:endParaRPr lang="en-US" sz="3199" b="1">
              <a:solidFill>
                <a:srgbClr val="000000"/>
              </a:solidFill>
              <a:latin typeface="Canva Sans Bold"/>
              <a:ea typeface="Canva Sans Bold"/>
              <a:cs typeface="Canva Sans Bold"/>
              <a:sym typeface="Canva Sans Bold"/>
            </a:endParaRPr>
          </a:p>
        </p:txBody>
      </p:sp>
      <p:sp>
        <p:nvSpPr>
          <p:cNvPr id="7" name="TextBox 7"/>
          <p:cNvSpPr txBox="1"/>
          <p:nvPr/>
        </p:nvSpPr>
        <p:spPr>
          <a:xfrm>
            <a:off x="3722194" y="784840"/>
            <a:ext cx="12636969"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TYPES OF BINARY SEARCH TREE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5011347" y="5143500"/>
            <a:ext cx="8613962" cy="5093005"/>
          </a:xfrm>
          <a:custGeom>
            <a:avLst/>
            <a:gdLst/>
            <a:ahLst/>
            <a:cxnLst/>
            <a:rect l="l" t="t" r="r" b="b"/>
            <a:pathLst>
              <a:path w="8613962" h="5093005">
                <a:moveTo>
                  <a:pt x="0" y="0"/>
                </a:moveTo>
                <a:lnTo>
                  <a:pt x="8613963" y="0"/>
                </a:lnTo>
                <a:lnTo>
                  <a:pt x="8613963" y="5093005"/>
                </a:lnTo>
                <a:lnTo>
                  <a:pt x="0" y="5093005"/>
                </a:lnTo>
                <a:lnTo>
                  <a:pt x="0" y="0"/>
                </a:lnTo>
                <a:close/>
              </a:path>
            </a:pathLst>
          </a:custGeom>
          <a:blipFill>
            <a:blip r:embed="rId6"/>
            <a:stretch>
              <a:fillRect/>
            </a:stretch>
          </a:blipFill>
        </p:spPr>
      </p:sp>
      <p:sp>
        <p:nvSpPr>
          <p:cNvPr id="6" name="TextBox 6"/>
          <p:cNvSpPr txBox="1"/>
          <p:nvPr/>
        </p:nvSpPr>
        <p:spPr>
          <a:xfrm>
            <a:off x="930808" y="1390937"/>
            <a:ext cx="17357192" cy="3909422"/>
          </a:xfrm>
          <a:prstGeom prst="rect">
            <a:avLst/>
          </a:prstGeom>
        </p:spPr>
        <p:txBody>
          <a:bodyPr lIns="0" tIns="0" rIns="0" bIns="0" rtlCol="0" anchor="t">
            <a:spAutoFit/>
          </a:bodyPr>
          <a:lstStyle/>
          <a:p>
            <a:pPr algn="l">
              <a:lnSpc>
                <a:spcPts val="4479"/>
              </a:lnSpc>
            </a:pPr>
            <a:r>
              <a:rPr lang="en-US" sz="3199" b="1">
                <a:solidFill>
                  <a:srgbClr val="004AAD"/>
                </a:solidFill>
                <a:latin typeface="Canva Sans Bold"/>
                <a:ea typeface="Canva Sans Bold"/>
                <a:cs typeface="Canva Sans Bold"/>
                <a:sym typeface="Canva Sans Bold"/>
              </a:rPr>
              <a:t> </a:t>
            </a:r>
          </a:p>
          <a:p>
            <a:pPr algn="l">
              <a:lnSpc>
                <a:spcPts val="4479"/>
              </a:lnSpc>
            </a:pPr>
            <a:r>
              <a:rPr lang="en-US" sz="3199" b="1">
                <a:solidFill>
                  <a:srgbClr val="004AAD"/>
                </a:solidFill>
                <a:latin typeface="Canva Sans Bold"/>
                <a:ea typeface="Canva Sans Bold"/>
                <a:cs typeface="Canva Sans Bold"/>
                <a:sym typeface="Canva Sans Bold"/>
              </a:rPr>
              <a:t>Skewed Binary Tree</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A skewed binary tree is a degenerate tree in which the tree is either dominated by the left nodes or the right nodes. </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Thus, there are two types of skewed binary tree: left-skewed binary tree and right-skewed binary tree.</a:t>
            </a:r>
          </a:p>
          <a:p>
            <a:pPr algn="l">
              <a:lnSpc>
                <a:spcPts val="4479"/>
              </a:lnSpc>
            </a:pPr>
            <a:endParaRPr lang="en-US" sz="3199" b="1">
              <a:solidFill>
                <a:srgbClr val="000000"/>
              </a:solidFill>
              <a:latin typeface="Canva Sans Bold"/>
              <a:ea typeface="Canva Sans Bold"/>
              <a:cs typeface="Canva Sans Bold"/>
              <a:sym typeface="Canva Sans Bold"/>
            </a:endParaRPr>
          </a:p>
        </p:txBody>
      </p:sp>
      <p:sp>
        <p:nvSpPr>
          <p:cNvPr id="7" name="TextBox 7"/>
          <p:cNvSpPr txBox="1"/>
          <p:nvPr/>
        </p:nvSpPr>
        <p:spPr>
          <a:xfrm>
            <a:off x="3502790" y="464780"/>
            <a:ext cx="12636969"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TYPES OF BINARY  TREE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5011347" y="5143500"/>
            <a:ext cx="8613962" cy="5093005"/>
          </a:xfrm>
          <a:custGeom>
            <a:avLst/>
            <a:gdLst/>
            <a:ahLst/>
            <a:cxnLst/>
            <a:rect l="l" t="t" r="r" b="b"/>
            <a:pathLst>
              <a:path w="8613962" h="5093005">
                <a:moveTo>
                  <a:pt x="0" y="0"/>
                </a:moveTo>
                <a:lnTo>
                  <a:pt x="8613963" y="0"/>
                </a:lnTo>
                <a:lnTo>
                  <a:pt x="8613963" y="5093005"/>
                </a:lnTo>
                <a:lnTo>
                  <a:pt x="0" y="5093005"/>
                </a:lnTo>
                <a:lnTo>
                  <a:pt x="0" y="0"/>
                </a:lnTo>
                <a:close/>
              </a:path>
            </a:pathLst>
          </a:custGeom>
          <a:blipFill>
            <a:blip r:embed="rId6"/>
            <a:stretch>
              <a:fillRect/>
            </a:stretch>
          </a:blipFill>
        </p:spPr>
      </p:sp>
      <p:sp>
        <p:nvSpPr>
          <p:cNvPr id="6" name="TextBox 6"/>
          <p:cNvSpPr txBox="1"/>
          <p:nvPr/>
        </p:nvSpPr>
        <p:spPr>
          <a:xfrm>
            <a:off x="930808" y="1390937"/>
            <a:ext cx="17357192" cy="3909422"/>
          </a:xfrm>
          <a:prstGeom prst="rect">
            <a:avLst/>
          </a:prstGeom>
        </p:spPr>
        <p:txBody>
          <a:bodyPr lIns="0" tIns="0" rIns="0" bIns="0" rtlCol="0" anchor="t">
            <a:spAutoFit/>
          </a:bodyPr>
          <a:lstStyle/>
          <a:p>
            <a:pPr algn="l">
              <a:lnSpc>
                <a:spcPts val="4479"/>
              </a:lnSpc>
            </a:pPr>
            <a:r>
              <a:rPr lang="en-US" sz="3199" b="1">
                <a:solidFill>
                  <a:srgbClr val="004AAD"/>
                </a:solidFill>
                <a:latin typeface="Canva Sans Bold"/>
                <a:ea typeface="Canva Sans Bold"/>
                <a:cs typeface="Canva Sans Bold"/>
                <a:sym typeface="Canva Sans Bold"/>
              </a:rPr>
              <a:t> </a:t>
            </a:r>
          </a:p>
          <a:p>
            <a:pPr algn="l">
              <a:lnSpc>
                <a:spcPts val="4479"/>
              </a:lnSpc>
            </a:pPr>
            <a:r>
              <a:rPr lang="en-US" sz="3199" b="1">
                <a:solidFill>
                  <a:srgbClr val="004AAD"/>
                </a:solidFill>
                <a:latin typeface="Canva Sans Bold"/>
                <a:ea typeface="Canva Sans Bold"/>
                <a:cs typeface="Canva Sans Bold"/>
                <a:sym typeface="Canva Sans Bold"/>
              </a:rPr>
              <a:t>Skewed Binary Tree</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A skewed binary tree is a degenerate tree in which the tree is either dominated by the left nodes or the right nodes. </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Thus, there are two types of skewed binary tree: left-skewed binary tree and right-skewed binary tree.</a:t>
            </a:r>
          </a:p>
          <a:p>
            <a:pPr algn="l">
              <a:lnSpc>
                <a:spcPts val="4479"/>
              </a:lnSpc>
            </a:pPr>
            <a:endParaRPr lang="en-US" sz="3199" b="1">
              <a:solidFill>
                <a:srgbClr val="000000"/>
              </a:solidFill>
              <a:latin typeface="Canva Sans Bold"/>
              <a:ea typeface="Canva Sans Bold"/>
              <a:cs typeface="Canva Sans Bold"/>
              <a:sym typeface="Canva Sans Bold"/>
            </a:endParaRPr>
          </a:p>
        </p:txBody>
      </p:sp>
      <p:sp>
        <p:nvSpPr>
          <p:cNvPr id="7" name="TextBox 7"/>
          <p:cNvSpPr txBox="1"/>
          <p:nvPr/>
        </p:nvSpPr>
        <p:spPr>
          <a:xfrm>
            <a:off x="3502790" y="464780"/>
            <a:ext cx="12636969"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TYPES OF BINARY  TREE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465404" y="963032"/>
            <a:ext cx="10537789" cy="9528781"/>
          </a:xfrm>
          <a:prstGeom prst="rect">
            <a:avLst/>
          </a:prstGeom>
        </p:spPr>
        <p:txBody>
          <a:bodyPr lIns="0" tIns="0" rIns="0" bIns="0" rtlCol="0" anchor="t">
            <a:spAutoFit/>
          </a:bodyPr>
          <a:lstStyle/>
          <a:p>
            <a:pPr algn="l">
              <a:lnSpc>
                <a:spcPts val="4479"/>
              </a:lnSpc>
            </a:pPr>
            <a:r>
              <a:rPr lang="en-US" sz="3199" b="1">
                <a:solidFill>
                  <a:srgbClr val="004AAD"/>
                </a:solidFill>
                <a:latin typeface="Canva Sans Bold"/>
                <a:ea typeface="Canva Sans Bold"/>
                <a:cs typeface="Canva Sans Bold"/>
                <a:sym typeface="Canva Sans Bold"/>
              </a:rPr>
              <a:t> </a:t>
            </a:r>
          </a:p>
          <a:p>
            <a:pPr algn="l">
              <a:lnSpc>
                <a:spcPts val="4479"/>
              </a:lnSpc>
            </a:pPr>
            <a:r>
              <a:rPr lang="en-US" sz="3199" b="1">
                <a:solidFill>
                  <a:srgbClr val="004AAD"/>
                </a:solidFill>
                <a:latin typeface="Canva Sans Bold"/>
                <a:ea typeface="Canva Sans Bold"/>
                <a:cs typeface="Canva Sans Bold"/>
                <a:sym typeface="Canva Sans Bold"/>
              </a:rPr>
              <a:t>        Complete Binary Tree</a:t>
            </a:r>
          </a:p>
          <a:p>
            <a:pPr algn="l">
              <a:lnSpc>
                <a:spcPts val="4479"/>
              </a:lnSpc>
            </a:pPr>
            <a:endParaRPr lang="en-US" sz="3199" b="1">
              <a:solidFill>
                <a:srgbClr val="004AAD"/>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A Binary Tree is a Complete Binary Tree if all the levels are completely filled except possibly the last level and the last level has all keys as left as possible.</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A complete binary tree is just like a full binary tree, but with two major differences:</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Every level except the last level must be completely filled.</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All the leaf elements must lean towards the left.</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The last leaf element might not have a right sibling i.e. a complete binary tree doesn’t have to be a full binary tree.</a:t>
            </a:r>
          </a:p>
          <a:p>
            <a:pPr algn="l">
              <a:lnSpc>
                <a:spcPts val="4479"/>
              </a:lnSpc>
            </a:pPr>
            <a:endParaRPr lang="en-US" sz="3199" b="1">
              <a:solidFill>
                <a:srgbClr val="000000"/>
              </a:solidFill>
              <a:latin typeface="Canva Sans Bold"/>
              <a:ea typeface="Canva Sans Bold"/>
              <a:cs typeface="Canva Sans Bold"/>
              <a:sym typeface="Canva Sans Bold"/>
            </a:endParaRPr>
          </a:p>
        </p:txBody>
      </p:sp>
      <p:sp>
        <p:nvSpPr>
          <p:cNvPr id="6" name="Freeform 6"/>
          <p:cNvSpPr/>
          <p:nvPr/>
        </p:nvSpPr>
        <p:spPr>
          <a:xfrm>
            <a:off x="11468597" y="2296100"/>
            <a:ext cx="6819403" cy="5694800"/>
          </a:xfrm>
          <a:custGeom>
            <a:avLst/>
            <a:gdLst/>
            <a:ahLst/>
            <a:cxnLst/>
            <a:rect l="l" t="t" r="r" b="b"/>
            <a:pathLst>
              <a:path w="6819403" h="5694800">
                <a:moveTo>
                  <a:pt x="0" y="0"/>
                </a:moveTo>
                <a:lnTo>
                  <a:pt x="6819403" y="0"/>
                </a:lnTo>
                <a:lnTo>
                  <a:pt x="6819403" y="5694800"/>
                </a:lnTo>
                <a:lnTo>
                  <a:pt x="0" y="5694800"/>
                </a:lnTo>
                <a:lnTo>
                  <a:pt x="0" y="0"/>
                </a:lnTo>
                <a:close/>
              </a:path>
            </a:pathLst>
          </a:custGeom>
          <a:blipFill>
            <a:blip r:embed="rId6"/>
            <a:stretch>
              <a:fillRect/>
            </a:stretch>
          </a:blipFill>
        </p:spPr>
      </p:sp>
      <p:sp>
        <p:nvSpPr>
          <p:cNvPr id="7" name="TextBox 7"/>
          <p:cNvSpPr txBox="1"/>
          <p:nvPr/>
        </p:nvSpPr>
        <p:spPr>
          <a:xfrm>
            <a:off x="3502790" y="464780"/>
            <a:ext cx="12636969"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TYPES OF BINARY  TREE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577526" y="4277508"/>
            <a:ext cx="5974467" cy="5685380"/>
          </a:xfrm>
          <a:custGeom>
            <a:avLst/>
            <a:gdLst/>
            <a:ahLst/>
            <a:cxnLst/>
            <a:rect l="l" t="t" r="r" b="b"/>
            <a:pathLst>
              <a:path w="5974467" h="5685380">
                <a:moveTo>
                  <a:pt x="0" y="0"/>
                </a:moveTo>
                <a:lnTo>
                  <a:pt x="5974468" y="0"/>
                </a:lnTo>
                <a:lnTo>
                  <a:pt x="5974468" y="5685380"/>
                </a:lnTo>
                <a:lnTo>
                  <a:pt x="0" y="5685380"/>
                </a:lnTo>
                <a:lnTo>
                  <a:pt x="0" y="0"/>
                </a:lnTo>
                <a:close/>
              </a:path>
            </a:pathLst>
          </a:custGeom>
          <a:blipFill>
            <a:blip r:embed="rId6"/>
            <a:stretch>
              <a:fillRect/>
            </a:stretch>
          </a:blipFill>
        </p:spPr>
      </p:sp>
      <p:sp>
        <p:nvSpPr>
          <p:cNvPr id="6" name="TextBox 6"/>
          <p:cNvSpPr txBox="1"/>
          <p:nvPr/>
        </p:nvSpPr>
        <p:spPr>
          <a:xfrm>
            <a:off x="465404" y="963032"/>
            <a:ext cx="10537789" cy="3347486"/>
          </a:xfrm>
          <a:prstGeom prst="rect">
            <a:avLst/>
          </a:prstGeom>
        </p:spPr>
        <p:txBody>
          <a:bodyPr lIns="0" tIns="0" rIns="0" bIns="0" rtlCol="0" anchor="t">
            <a:spAutoFit/>
          </a:bodyPr>
          <a:lstStyle/>
          <a:p>
            <a:pPr algn="l">
              <a:lnSpc>
                <a:spcPts val="4479"/>
              </a:lnSpc>
            </a:pPr>
            <a:r>
              <a:rPr lang="en-US" sz="3199" b="1">
                <a:solidFill>
                  <a:srgbClr val="004AAD"/>
                </a:solidFill>
                <a:latin typeface="Canva Sans Bold"/>
                <a:ea typeface="Canva Sans Bold"/>
                <a:cs typeface="Canva Sans Bold"/>
                <a:sym typeface="Canva Sans Bold"/>
              </a:rPr>
              <a:t> </a:t>
            </a:r>
          </a:p>
          <a:p>
            <a:pPr algn="l">
              <a:lnSpc>
                <a:spcPts val="4479"/>
              </a:lnSpc>
            </a:pPr>
            <a:r>
              <a:rPr lang="en-US" sz="3199" b="1">
                <a:solidFill>
                  <a:srgbClr val="004AAD"/>
                </a:solidFill>
                <a:latin typeface="Canva Sans Bold"/>
                <a:ea typeface="Canva Sans Bold"/>
                <a:cs typeface="Canva Sans Bold"/>
                <a:sym typeface="Canva Sans Bold"/>
              </a:rPr>
              <a:t>       Perfect Binary Tree</a:t>
            </a:r>
          </a:p>
          <a:p>
            <a:pPr algn="l">
              <a:lnSpc>
                <a:spcPts val="4479"/>
              </a:lnSpc>
            </a:pPr>
            <a:endParaRPr lang="en-US" sz="3199" b="1">
              <a:solidFill>
                <a:srgbClr val="004AAD"/>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A Binary tree  in which all the internal nodes have two children and all leaf nodes are at the same level. </a:t>
            </a:r>
          </a:p>
        </p:txBody>
      </p:sp>
      <p:sp>
        <p:nvSpPr>
          <p:cNvPr id="7" name="TextBox 7"/>
          <p:cNvSpPr txBox="1"/>
          <p:nvPr/>
        </p:nvSpPr>
        <p:spPr>
          <a:xfrm>
            <a:off x="3502790" y="464780"/>
            <a:ext cx="12636969"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TYPES OF BINARY  TREE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901364" y="2360565"/>
            <a:ext cx="11301259" cy="5565870"/>
          </a:xfrm>
          <a:custGeom>
            <a:avLst/>
            <a:gdLst/>
            <a:ahLst/>
            <a:cxnLst/>
            <a:rect l="l" t="t" r="r" b="b"/>
            <a:pathLst>
              <a:path w="11301259" h="5565870">
                <a:moveTo>
                  <a:pt x="0" y="0"/>
                </a:moveTo>
                <a:lnTo>
                  <a:pt x="11301259" y="0"/>
                </a:lnTo>
                <a:lnTo>
                  <a:pt x="11301259" y="5565870"/>
                </a:lnTo>
                <a:lnTo>
                  <a:pt x="0" y="5565870"/>
                </a:lnTo>
                <a:lnTo>
                  <a:pt x="0" y="0"/>
                </a:lnTo>
                <a:close/>
              </a:path>
            </a:pathLst>
          </a:custGeom>
          <a:blipFill>
            <a:blip r:embed="rId6"/>
            <a:stretch>
              <a:fillRect/>
            </a:stretch>
          </a:blipFill>
        </p:spPr>
      </p:sp>
      <p:sp>
        <p:nvSpPr>
          <p:cNvPr id="6" name="TextBox 6"/>
          <p:cNvSpPr txBox="1"/>
          <p:nvPr/>
        </p:nvSpPr>
        <p:spPr>
          <a:xfrm>
            <a:off x="551096" y="971550"/>
            <a:ext cx="6708399" cy="9528781"/>
          </a:xfrm>
          <a:prstGeom prst="rect">
            <a:avLst/>
          </a:prstGeom>
        </p:spPr>
        <p:txBody>
          <a:bodyPr lIns="0" tIns="0" rIns="0" bIns="0" rtlCol="0" anchor="t">
            <a:spAutoFit/>
          </a:bodyPr>
          <a:lstStyle/>
          <a:p>
            <a:pPr algn="l">
              <a:lnSpc>
                <a:spcPts val="4479"/>
              </a:lnSpc>
            </a:pPr>
            <a:r>
              <a:rPr lang="en-US" sz="3199" b="1">
                <a:solidFill>
                  <a:srgbClr val="004AAD"/>
                </a:solidFill>
                <a:latin typeface="Canva Sans Bold"/>
                <a:ea typeface="Canva Sans Bold"/>
                <a:cs typeface="Canva Sans Bold"/>
                <a:sym typeface="Canva Sans Bold"/>
              </a:rPr>
              <a:t> </a:t>
            </a:r>
          </a:p>
          <a:p>
            <a:pPr algn="l">
              <a:lnSpc>
                <a:spcPts val="4479"/>
              </a:lnSpc>
            </a:pPr>
            <a:r>
              <a:rPr lang="en-US" sz="3199" b="1">
                <a:solidFill>
                  <a:srgbClr val="004AAD"/>
                </a:solidFill>
                <a:latin typeface="Canva Sans Bold"/>
                <a:ea typeface="Canva Sans Bold"/>
                <a:cs typeface="Canva Sans Bold"/>
                <a:sym typeface="Canva Sans Bold"/>
              </a:rPr>
              <a:t>       Balanced Binary Tree</a:t>
            </a:r>
          </a:p>
          <a:p>
            <a:pPr algn="l">
              <a:lnSpc>
                <a:spcPts val="4479"/>
              </a:lnSpc>
            </a:pPr>
            <a:endParaRPr lang="en-US" sz="3199" b="1">
              <a:solidFill>
                <a:srgbClr val="004AAD"/>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A binary tree in which the difference in height (the number of edges on the longest path from the root to a leaf) between the left and right subtrees of any node is at most one. This ensures that the tree remains roughly balanced, which helps optimize operations such as searching, insertion, and deletion.</a:t>
            </a:r>
          </a:p>
          <a:p>
            <a:pPr algn="l">
              <a:lnSpc>
                <a:spcPts val="4479"/>
              </a:lnSpc>
            </a:pPr>
            <a:endParaRPr lang="en-US" sz="3199" b="1">
              <a:solidFill>
                <a:srgbClr val="000000"/>
              </a:solidFill>
              <a:latin typeface="Canva Sans Bold"/>
              <a:ea typeface="Canva Sans Bold"/>
              <a:cs typeface="Canva Sans Bold"/>
              <a:sym typeface="Canva Sans Bold"/>
            </a:endParaRPr>
          </a:p>
          <a:p>
            <a:pPr algn="l">
              <a:lnSpc>
                <a:spcPts val="4479"/>
              </a:lnSpc>
            </a:pPr>
            <a:endParaRPr lang="en-US" sz="3199" b="1">
              <a:solidFill>
                <a:srgbClr val="000000"/>
              </a:solidFill>
              <a:latin typeface="Canva Sans Bold"/>
              <a:ea typeface="Canva Sans Bold"/>
              <a:cs typeface="Canva Sans Bold"/>
              <a:sym typeface="Canva Sans Bold"/>
            </a:endParaRPr>
          </a:p>
        </p:txBody>
      </p:sp>
      <p:sp>
        <p:nvSpPr>
          <p:cNvPr id="7" name="TextBox 7"/>
          <p:cNvSpPr txBox="1"/>
          <p:nvPr/>
        </p:nvSpPr>
        <p:spPr>
          <a:xfrm>
            <a:off x="3502790" y="464780"/>
            <a:ext cx="12636969"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TYPES OF BINARY  TREE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413473" y="4694941"/>
            <a:ext cx="10212198" cy="5592059"/>
          </a:xfrm>
          <a:custGeom>
            <a:avLst/>
            <a:gdLst/>
            <a:ahLst/>
            <a:cxnLst/>
            <a:rect l="l" t="t" r="r" b="b"/>
            <a:pathLst>
              <a:path w="10212198" h="5592059">
                <a:moveTo>
                  <a:pt x="0" y="0"/>
                </a:moveTo>
                <a:lnTo>
                  <a:pt x="10212199" y="0"/>
                </a:lnTo>
                <a:lnTo>
                  <a:pt x="10212199" y="5592059"/>
                </a:lnTo>
                <a:lnTo>
                  <a:pt x="0" y="5592059"/>
                </a:lnTo>
                <a:lnTo>
                  <a:pt x="0" y="0"/>
                </a:lnTo>
                <a:close/>
              </a:path>
            </a:pathLst>
          </a:custGeom>
          <a:blipFill>
            <a:blip r:embed="rId6"/>
            <a:stretch>
              <a:fillRect/>
            </a:stretch>
          </a:blipFill>
        </p:spPr>
      </p:sp>
      <p:sp>
        <p:nvSpPr>
          <p:cNvPr id="5" name="TextBox 5"/>
          <p:cNvSpPr txBox="1"/>
          <p:nvPr/>
        </p:nvSpPr>
        <p:spPr>
          <a:xfrm>
            <a:off x="3502790" y="464780"/>
            <a:ext cx="12636969" cy="1097359"/>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TREES</a:t>
            </a:r>
          </a:p>
          <a:p>
            <a:pPr algn="ctr">
              <a:lnSpc>
                <a:spcPts val="4200"/>
              </a:lnSpc>
            </a:pPr>
            <a:r>
              <a:rPr lang="en-US" sz="4200" b="1" spc="420">
                <a:solidFill>
                  <a:srgbClr val="404040"/>
                </a:solidFill>
                <a:latin typeface="Gotham Bold"/>
                <a:ea typeface="Gotham Bold"/>
                <a:cs typeface="Gotham Bold"/>
                <a:sym typeface="Gotham Bold"/>
              </a:rPr>
              <a:t>(TRAVERSAL)</a:t>
            </a:r>
          </a:p>
        </p:txBody>
      </p:sp>
      <p:sp>
        <p:nvSpPr>
          <p:cNvPr id="6" name="TextBox 6"/>
          <p:cNvSpPr txBox="1"/>
          <p:nvPr/>
        </p:nvSpPr>
        <p:spPr>
          <a:xfrm>
            <a:off x="989152" y="1390937"/>
            <a:ext cx="16270148" cy="6157166"/>
          </a:xfrm>
          <a:prstGeom prst="rect">
            <a:avLst/>
          </a:prstGeom>
        </p:spPr>
        <p:txBody>
          <a:bodyPr lIns="0" tIns="0" rIns="0" bIns="0" rtlCol="0" anchor="t">
            <a:spAutoFit/>
          </a:bodyPr>
          <a:lstStyle/>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Breadth First Search (BFS</a:t>
            </a:r>
            <a:r>
              <a:rPr lang="en-US" sz="3199" b="1">
                <a:solidFill>
                  <a:srgbClr val="000000"/>
                </a:solidFill>
                <a:latin typeface="Canva Sans Bold"/>
                <a:ea typeface="Canva Sans Bold"/>
                <a:cs typeface="Canva Sans Bold"/>
                <a:sym typeface="Canva Sans Bold"/>
              </a:rPr>
              <a:t>) is when the nodes on the same level are visited before going to the next level in the tree. This means that the tree is explored in a more sideways direction.</a:t>
            </a:r>
          </a:p>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Depth First Search (DFS)</a:t>
            </a:r>
            <a:r>
              <a:rPr lang="en-US" sz="3199" b="1">
                <a:solidFill>
                  <a:srgbClr val="000000"/>
                </a:solidFill>
                <a:latin typeface="Canva Sans Bold"/>
                <a:ea typeface="Canva Sans Bold"/>
                <a:cs typeface="Canva Sans Bold"/>
                <a:sym typeface="Canva Sans Bold"/>
              </a:rPr>
              <a:t> is when the traversal moves down the tree all the way to the leaf nodes, exploring the tree branch by branch in a downwards direction.</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in-order</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pre-order</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post-order</a:t>
            </a:r>
          </a:p>
          <a:p>
            <a:pPr algn="l">
              <a:lnSpc>
                <a:spcPts val="4479"/>
              </a:lnSpc>
            </a:pPr>
            <a:endParaRPr lang="en-US" sz="3199" b="1">
              <a:solidFill>
                <a:srgbClr val="000000"/>
              </a:solidFill>
              <a:latin typeface="Canva Sans Bold"/>
              <a:ea typeface="Canva Sans Bold"/>
              <a:cs typeface="Canva Sans Bold"/>
              <a:sym typeface="Canva Sans Bold"/>
            </a:endParaRPr>
          </a:p>
          <a:p>
            <a:pPr algn="l">
              <a:lnSpc>
                <a:spcPts val="4479"/>
              </a:lnSpc>
            </a:pPr>
            <a:endParaRPr lang="en-US" sz="3199" b="1">
              <a:solidFill>
                <a:srgbClr val="000000"/>
              </a:solidFill>
              <a:latin typeface="Canva Sans Bold"/>
              <a:ea typeface="Canva Sans Bold"/>
              <a:cs typeface="Canva Sans Bold"/>
              <a:sym typeface="Canva Sans 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413473" y="4694941"/>
            <a:ext cx="10212198" cy="5592059"/>
          </a:xfrm>
          <a:custGeom>
            <a:avLst/>
            <a:gdLst/>
            <a:ahLst/>
            <a:cxnLst/>
            <a:rect l="l" t="t" r="r" b="b"/>
            <a:pathLst>
              <a:path w="10212198" h="5592059">
                <a:moveTo>
                  <a:pt x="0" y="0"/>
                </a:moveTo>
                <a:lnTo>
                  <a:pt x="10212199" y="0"/>
                </a:lnTo>
                <a:lnTo>
                  <a:pt x="10212199" y="5592059"/>
                </a:lnTo>
                <a:lnTo>
                  <a:pt x="0" y="5592059"/>
                </a:lnTo>
                <a:lnTo>
                  <a:pt x="0" y="0"/>
                </a:lnTo>
                <a:close/>
              </a:path>
            </a:pathLst>
          </a:custGeom>
          <a:blipFill>
            <a:blip r:embed="rId6"/>
            <a:stretch>
              <a:fillRect/>
            </a:stretch>
          </a:blipFill>
        </p:spPr>
      </p:sp>
      <p:sp>
        <p:nvSpPr>
          <p:cNvPr id="5" name="TextBox 5"/>
          <p:cNvSpPr txBox="1"/>
          <p:nvPr/>
        </p:nvSpPr>
        <p:spPr>
          <a:xfrm>
            <a:off x="3502790" y="464780"/>
            <a:ext cx="12636969" cy="1097359"/>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TREES</a:t>
            </a:r>
          </a:p>
          <a:p>
            <a:pPr algn="ctr">
              <a:lnSpc>
                <a:spcPts val="4200"/>
              </a:lnSpc>
            </a:pPr>
            <a:r>
              <a:rPr lang="en-US" sz="4200" b="1" spc="420">
                <a:solidFill>
                  <a:srgbClr val="404040"/>
                </a:solidFill>
                <a:latin typeface="Gotham Bold"/>
                <a:ea typeface="Gotham Bold"/>
                <a:cs typeface="Gotham Bold"/>
                <a:sym typeface="Gotham Bold"/>
              </a:rPr>
              <a:t>(TRAVERSAL)</a:t>
            </a:r>
          </a:p>
        </p:txBody>
      </p:sp>
      <p:sp>
        <p:nvSpPr>
          <p:cNvPr id="6" name="TextBox 6"/>
          <p:cNvSpPr txBox="1"/>
          <p:nvPr/>
        </p:nvSpPr>
        <p:spPr>
          <a:xfrm>
            <a:off x="989152" y="1390937"/>
            <a:ext cx="16270148" cy="6157166"/>
          </a:xfrm>
          <a:prstGeom prst="rect">
            <a:avLst/>
          </a:prstGeom>
        </p:spPr>
        <p:txBody>
          <a:bodyPr lIns="0" tIns="0" rIns="0" bIns="0" rtlCol="0" anchor="t">
            <a:spAutoFit/>
          </a:bodyPr>
          <a:lstStyle/>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In-Order Traversal: At first traverse left subtree then visit the root and then traverse the right subtree.</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Steps:</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Traverse left subtree</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Visit the root and print the data.</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Traverse the right subtree</a:t>
            </a:r>
          </a:p>
          <a:p>
            <a:pPr algn="l">
              <a:lnSpc>
                <a:spcPts val="4479"/>
              </a:lnSpc>
            </a:pPr>
            <a:endParaRPr lang="en-US" sz="3199" b="1">
              <a:solidFill>
                <a:srgbClr val="000000"/>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In-order:</a:t>
            </a:r>
          </a:p>
          <a:p>
            <a:pPr algn="l">
              <a:lnSpc>
                <a:spcPts val="4479"/>
              </a:lnSpc>
            </a:pPr>
            <a:r>
              <a:rPr lang="en-US" sz="3199" b="1">
                <a:solidFill>
                  <a:srgbClr val="000000"/>
                </a:solidFill>
                <a:latin typeface="Canva Sans Bold"/>
                <a:ea typeface="Canva Sans Bold"/>
                <a:cs typeface="Canva Sans Bold"/>
                <a:sym typeface="Canva Sans Bold"/>
              </a:rPr>
              <a:t>10,20,30,100,150,200,300</a:t>
            </a:r>
          </a:p>
          <a:p>
            <a:pPr algn="l">
              <a:lnSpc>
                <a:spcPts val="4479"/>
              </a:lnSpc>
            </a:pPr>
            <a:endParaRPr lang="en-US" sz="3199" b="1">
              <a:solidFill>
                <a:srgbClr val="000000"/>
              </a:solidFill>
              <a:latin typeface="Canva Sans Bold"/>
              <a:ea typeface="Canva Sans Bold"/>
              <a:cs typeface="Canva Sans Bold"/>
              <a:sym typeface="Canva Sans Bold"/>
            </a:endParaRPr>
          </a:p>
          <a:p>
            <a:pPr algn="l">
              <a:lnSpc>
                <a:spcPts val="4479"/>
              </a:lnSpc>
            </a:pPr>
            <a:endParaRPr lang="en-US" sz="3199" b="1">
              <a:solidFill>
                <a:srgbClr val="000000"/>
              </a:solidFill>
              <a:latin typeface="Canva Sans Bold"/>
              <a:ea typeface="Canva Sans Bold"/>
              <a:cs typeface="Canva Sans Bold"/>
              <a:sym typeface="Canva Sans 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413473" y="4694941"/>
            <a:ext cx="10212198" cy="5592059"/>
          </a:xfrm>
          <a:custGeom>
            <a:avLst/>
            <a:gdLst/>
            <a:ahLst/>
            <a:cxnLst/>
            <a:rect l="l" t="t" r="r" b="b"/>
            <a:pathLst>
              <a:path w="10212198" h="5592059">
                <a:moveTo>
                  <a:pt x="0" y="0"/>
                </a:moveTo>
                <a:lnTo>
                  <a:pt x="10212199" y="0"/>
                </a:lnTo>
                <a:lnTo>
                  <a:pt x="10212199" y="5592059"/>
                </a:lnTo>
                <a:lnTo>
                  <a:pt x="0" y="5592059"/>
                </a:lnTo>
                <a:lnTo>
                  <a:pt x="0" y="0"/>
                </a:lnTo>
                <a:close/>
              </a:path>
            </a:pathLst>
          </a:custGeom>
          <a:blipFill>
            <a:blip r:embed="rId6"/>
            <a:stretch>
              <a:fillRect/>
            </a:stretch>
          </a:blipFill>
        </p:spPr>
      </p:sp>
      <p:sp>
        <p:nvSpPr>
          <p:cNvPr id="5" name="TextBox 5"/>
          <p:cNvSpPr txBox="1"/>
          <p:nvPr/>
        </p:nvSpPr>
        <p:spPr>
          <a:xfrm>
            <a:off x="3502790" y="464780"/>
            <a:ext cx="12636969" cy="1097359"/>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SEARCH TREES</a:t>
            </a:r>
          </a:p>
          <a:p>
            <a:pPr algn="ctr">
              <a:lnSpc>
                <a:spcPts val="4200"/>
              </a:lnSpc>
            </a:pPr>
            <a:r>
              <a:rPr lang="en-US" sz="4200" b="1" spc="420">
                <a:solidFill>
                  <a:srgbClr val="404040"/>
                </a:solidFill>
                <a:latin typeface="Gotham Bold"/>
                <a:ea typeface="Gotham Bold"/>
                <a:cs typeface="Gotham Bold"/>
                <a:sym typeface="Gotham Bold"/>
              </a:rPr>
              <a:t>(TRAVERSAL)</a:t>
            </a:r>
          </a:p>
        </p:txBody>
      </p:sp>
      <p:sp>
        <p:nvSpPr>
          <p:cNvPr id="6" name="TextBox 6"/>
          <p:cNvSpPr txBox="1"/>
          <p:nvPr/>
        </p:nvSpPr>
        <p:spPr>
          <a:xfrm>
            <a:off x="989152" y="1390937"/>
            <a:ext cx="16270148" cy="6157166"/>
          </a:xfrm>
          <a:prstGeom prst="rect">
            <a:avLst/>
          </a:prstGeom>
        </p:spPr>
        <p:txBody>
          <a:bodyPr lIns="0" tIns="0" rIns="0" bIns="0" rtlCol="0" anchor="t">
            <a:spAutoFit/>
          </a:bodyPr>
          <a:lstStyle/>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Pre-Order Traversal: At first visit the root then traverse left subtree and then traverse the right subtree.</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Steps:</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Visit the root and print the data.</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Traverse left subtree</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Traverse the right subtree</a:t>
            </a:r>
          </a:p>
          <a:p>
            <a:pPr algn="l">
              <a:lnSpc>
                <a:spcPts val="4479"/>
              </a:lnSpc>
            </a:pPr>
            <a:endParaRPr lang="en-US" sz="3199" b="1">
              <a:solidFill>
                <a:srgbClr val="000000"/>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Pre-order:</a:t>
            </a:r>
          </a:p>
          <a:p>
            <a:pPr algn="l">
              <a:lnSpc>
                <a:spcPts val="4479"/>
              </a:lnSpc>
            </a:pPr>
            <a:r>
              <a:rPr lang="en-US" sz="3199" b="1">
                <a:solidFill>
                  <a:srgbClr val="000000"/>
                </a:solidFill>
                <a:latin typeface="Canva Sans Bold"/>
                <a:ea typeface="Canva Sans Bold"/>
                <a:cs typeface="Canva Sans Bold"/>
                <a:sym typeface="Canva Sans Bold"/>
              </a:rPr>
              <a:t>100,20,10,30,200,150,300</a:t>
            </a:r>
          </a:p>
          <a:p>
            <a:pPr algn="l">
              <a:lnSpc>
                <a:spcPts val="4479"/>
              </a:lnSpc>
            </a:pPr>
            <a:endParaRPr lang="en-US" sz="3199" b="1">
              <a:solidFill>
                <a:srgbClr val="000000"/>
              </a:solidFill>
              <a:latin typeface="Canva Sans Bold"/>
              <a:ea typeface="Canva Sans Bold"/>
              <a:cs typeface="Canva Sans Bold"/>
              <a:sym typeface="Canva Sans Bold"/>
            </a:endParaRPr>
          </a:p>
          <a:p>
            <a:pPr algn="l">
              <a:lnSpc>
                <a:spcPts val="4479"/>
              </a:lnSpc>
            </a:pPr>
            <a:endParaRPr lang="en-US" sz="3199" b="1">
              <a:solidFill>
                <a:srgbClr val="000000"/>
              </a:solidFill>
              <a:latin typeface="Canva Sans Bold"/>
              <a:ea typeface="Canva Sans Bold"/>
              <a:cs typeface="Canva Sans Bold"/>
              <a:sym typeface="Canva Sans 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413473" y="4694941"/>
            <a:ext cx="10212198" cy="5592059"/>
          </a:xfrm>
          <a:custGeom>
            <a:avLst/>
            <a:gdLst/>
            <a:ahLst/>
            <a:cxnLst/>
            <a:rect l="l" t="t" r="r" b="b"/>
            <a:pathLst>
              <a:path w="10212198" h="5592059">
                <a:moveTo>
                  <a:pt x="0" y="0"/>
                </a:moveTo>
                <a:lnTo>
                  <a:pt x="10212199" y="0"/>
                </a:lnTo>
                <a:lnTo>
                  <a:pt x="10212199" y="5592059"/>
                </a:lnTo>
                <a:lnTo>
                  <a:pt x="0" y="5592059"/>
                </a:lnTo>
                <a:lnTo>
                  <a:pt x="0" y="0"/>
                </a:lnTo>
                <a:close/>
              </a:path>
            </a:pathLst>
          </a:custGeom>
          <a:blipFill>
            <a:blip r:embed="rId6"/>
            <a:stretch>
              <a:fillRect/>
            </a:stretch>
          </a:blipFill>
        </p:spPr>
      </p:sp>
      <p:sp>
        <p:nvSpPr>
          <p:cNvPr id="5" name="TextBox 5"/>
          <p:cNvSpPr txBox="1"/>
          <p:nvPr/>
        </p:nvSpPr>
        <p:spPr>
          <a:xfrm>
            <a:off x="3502790" y="464780"/>
            <a:ext cx="12636969" cy="1097359"/>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TREES</a:t>
            </a:r>
          </a:p>
          <a:p>
            <a:pPr algn="ctr">
              <a:lnSpc>
                <a:spcPts val="4200"/>
              </a:lnSpc>
            </a:pPr>
            <a:r>
              <a:rPr lang="en-US" sz="4200" b="1" spc="420">
                <a:solidFill>
                  <a:srgbClr val="404040"/>
                </a:solidFill>
                <a:latin typeface="Gotham Bold"/>
                <a:ea typeface="Gotham Bold"/>
                <a:cs typeface="Gotham Bold"/>
                <a:sym typeface="Gotham Bold"/>
              </a:rPr>
              <a:t>(TRAVERSAL)</a:t>
            </a:r>
          </a:p>
        </p:txBody>
      </p:sp>
      <p:sp>
        <p:nvSpPr>
          <p:cNvPr id="6" name="TextBox 6"/>
          <p:cNvSpPr txBox="1"/>
          <p:nvPr/>
        </p:nvSpPr>
        <p:spPr>
          <a:xfrm>
            <a:off x="989152" y="1390937"/>
            <a:ext cx="16270148" cy="6719102"/>
          </a:xfrm>
          <a:prstGeom prst="rect">
            <a:avLst/>
          </a:prstGeom>
        </p:spPr>
        <p:txBody>
          <a:bodyPr lIns="0" tIns="0" rIns="0" bIns="0" rtlCol="0" anchor="t">
            <a:spAutoFit/>
          </a:bodyPr>
          <a:lstStyle/>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Post-Order Traversal: At first traverse left subtree then traverse the right subtree and then visit the root.</a:t>
            </a:r>
          </a:p>
          <a:p>
            <a:pPr marL="690872" lvl="1" indent="-345436" algn="l">
              <a:lnSpc>
                <a:spcPts val="4479"/>
              </a:lnSpc>
              <a:buFont typeface="Arial"/>
              <a:buChar char="•"/>
            </a:pPr>
            <a:endParaRPr lang="en-US" sz="3199" b="1">
              <a:solidFill>
                <a:srgbClr val="000000"/>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Steps:</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Traverse left subtree</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Traverse the right subtree</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Visit the root and print the data.</a:t>
            </a:r>
          </a:p>
          <a:p>
            <a:pPr algn="l">
              <a:lnSpc>
                <a:spcPts val="4479"/>
              </a:lnSpc>
            </a:pPr>
            <a:endParaRPr lang="en-US" sz="3199" b="1">
              <a:solidFill>
                <a:srgbClr val="000000"/>
              </a:solidFill>
              <a:latin typeface="Canva Sans Bold"/>
              <a:ea typeface="Canva Sans Bold"/>
              <a:cs typeface="Canva Sans Bold"/>
              <a:sym typeface="Canva Sans Bold"/>
            </a:endParaRPr>
          </a:p>
          <a:p>
            <a:pPr algn="l">
              <a:lnSpc>
                <a:spcPts val="4479"/>
              </a:lnSpc>
            </a:pPr>
            <a:endParaRPr lang="en-US" sz="3199" b="1">
              <a:solidFill>
                <a:srgbClr val="000000"/>
              </a:solidFill>
              <a:latin typeface="Canva Sans Bold"/>
              <a:ea typeface="Canva Sans Bold"/>
              <a:cs typeface="Canva Sans Bold"/>
              <a:sym typeface="Canva Sans Bold"/>
            </a:endParaRP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Post-order:</a:t>
            </a:r>
          </a:p>
          <a:p>
            <a:pPr algn="l">
              <a:lnSpc>
                <a:spcPts val="4479"/>
              </a:lnSpc>
            </a:pPr>
            <a:r>
              <a:rPr lang="en-US" sz="3199" b="1">
                <a:solidFill>
                  <a:srgbClr val="000000"/>
                </a:solidFill>
                <a:latin typeface="Canva Sans Bold"/>
                <a:ea typeface="Canva Sans Bold"/>
                <a:cs typeface="Canva Sans Bold"/>
                <a:sym typeface="Canva Sans Bold"/>
              </a:rPr>
              <a:t>10,30,20,150,300,200,100</a:t>
            </a:r>
          </a:p>
          <a:p>
            <a:pPr algn="l">
              <a:lnSpc>
                <a:spcPts val="4479"/>
              </a:lnSpc>
            </a:pPr>
            <a:endParaRPr lang="en-US" sz="3199" b="1">
              <a:solidFill>
                <a:srgbClr val="000000"/>
              </a:solidFill>
              <a:latin typeface="Canva Sans Bold"/>
              <a:ea typeface="Canva Sans Bold"/>
              <a:cs typeface="Canva Sans Bold"/>
              <a:sym typeface="Canva Sans 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0116457" y="2378559"/>
            <a:ext cx="7522266" cy="5529882"/>
          </a:xfrm>
          <a:custGeom>
            <a:avLst/>
            <a:gdLst/>
            <a:ahLst/>
            <a:cxnLst/>
            <a:rect l="l" t="t" r="r" b="b"/>
            <a:pathLst>
              <a:path w="7522266" h="5529882">
                <a:moveTo>
                  <a:pt x="0" y="0"/>
                </a:moveTo>
                <a:lnTo>
                  <a:pt x="7522266" y="0"/>
                </a:lnTo>
                <a:lnTo>
                  <a:pt x="7522266" y="5529882"/>
                </a:lnTo>
                <a:lnTo>
                  <a:pt x="0" y="5529882"/>
                </a:lnTo>
                <a:lnTo>
                  <a:pt x="0" y="0"/>
                </a:lnTo>
                <a:close/>
              </a:path>
            </a:pathLst>
          </a:custGeom>
          <a:blipFill>
            <a:blip r:embed="rId6"/>
            <a:stretch>
              <a:fillRect/>
            </a:stretch>
          </a:blipFill>
        </p:spPr>
      </p:sp>
      <p:sp>
        <p:nvSpPr>
          <p:cNvPr id="6" name="TextBox 6"/>
          <p:cNvSpPr txBox="1"/>
          <p:nvPr/>
        </p:nvSpPr>
        <p:spPr>
          <a:xfrm>
            <a:off x="989152" y="1390937"/>
            <a:ext cx="8154848" cy="7281038"/>
          </a:xfrm>
          <a:prstGeom prst="rect">
            <a:avLst/>
          </a:prstGeom>
        </p:spPr>
        <p:txBody>
          <a:bodyPr lIns="0" tIns="0" rIns="0" bIns="0" rtlCol="0" anchor="t">
            <a:spAutoFit/>
          </a:bodyPr>
          <a:lstStyle/>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BST is a data structure used in computer science for organizing and storing data in a sorted manner.</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Each node in a Binary Search Tree has at most two children, a left child and a right child,</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The left child containing values less than the parent node and the right child containing values greater than the parent node.</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Allows for efficient searching, insertion, and deletion operations on the data stored in the tree.</a:t>
            </a:r>
          </a:p>
        </p:txBody>
      </p:sp>
      <p:sp>
        <p:nvSpPr>
          <p:cNvPr id="7" name="TextBox 7"/>
          <p:cNvSpPr txBox="1"/>
          <p:nvPr/>
        </p:nvSpPr>
        <p:spPr>
          <a:xfrm>
            <a:off x="3502790" y="464780"/>
            <a:ext cx="12636969"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SEARCH TREES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0116457" y="2378559"/>
            <a:ext cx="7522266" cy="5529882"/>
          </a:xfrm>
          <a:custGeom>
            <a:avLst/>
            <a:gdLst/>
            <a:ahLst/>
            <a:cxnLst/>
            <a:rect l="l" t="t" r="r" b="b"/>
            <a:pathLst>
              <a:path w="7522266" h="5529882">
                <a:moveTo>
                  <a:pt x="0" y="0"/>
                </a:moveTo>
                <a:lnTo>
                  <a:pt x="7522266" y="0"/>
                </a:lnTo>
                <a:lnTo>
                  <a:pt x="7522266" y="5529882"/>
                </a:lnTo>
                <a:lnTo>
                  <a:pt x="0" y="5529882"/>
                </a:lnTo>
                <a:lnTo>
                  <a:pt x="0" y="0"/>
                </a:lnTo>
                <a:close/>
              </a:path>
            </a:pathLst>
          </a:custGeom>
          <a:blipFill>
            <a:blip r:embed="rId6"/>
            <a:stretch>
              <a:fillRect/>
            </a:stretch>
          </a:blipFill>
        </p:spPr>
      </p:sp>
      <p:sp>
        <p:nvSpPr>
          <p:cNvPr id="6" name="TextBox 6"/>
          <p:cNvSpPr txBox="1"/>
          <p:nvPr/>
        </p:nvSpPr>
        <p:spPr>
          <a:xfrm>
            <a:off x="989152" y="1390937"/>
            <a:ext cx="8154848" cy="7842974"/>
          </a:xfrm>
          <a:prstGeom prst="rect">
            <a:avLst/>
          </a:prstGeom>
        </p:spPr>
        <p:txBody>
          <a:bodyPr lIns="0" tIns="0" rIns="0" bIns="0" rtlCol="0" anchor="t">
            <a:spAutoFit/>
          </a:bodyPr>
          <a:lstStyle/>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Properties of BST:</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The left subtree of a node contains only nodes with keys lesser than the node’s key.</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The right subtree of a node contains only nodes with keys greater than the node’s key.</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The left and right subtree each must also be a binary search tree. </a:t>
            </a:r>
          </a:p>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There must be no duplicate nodes(BST may have duplicate values with different handling approaches).</a:t>
            </a:r>
          </a:p>
          <a:p>
            <a:pPr algn="l">
              <a:lnSpc>
                <a:spcPts val="4479"/>
              </a:lnSpc>
            </a:pPr>
            <a:endParaRPr lang="en-US" sz="3199" b="1">
              <a:solidFill>
                <a:srgbClr val="000000"/>
              </a:solidFill>
              <a:latin typeface="Canva Sans Bold"/>
              <a:ea typeface="Canva Sans Bold"/>
              <a:cs typeface="Canva Sans Bold"/>
              <a:sym typeface="Canva Sans Bold"/>
            </a:endParaRPr>
          </a:p>
        </p:txBody>
      </p:sp>
      <p:sp>
        <p:nvSpPr>
          <p:cNvPr id="7" name="TextBox 7"/>
          <p:cNvSpPr txBox="1"/>
          <p:nvPr/>
        </p:nvSpPr>
        <p:spPr>
          <a:xfrm>
            <a:off x="3502790" y="464780"/>
            <a:ext cx="12636969"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SEARCH TREES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269270" y="6316115"/>
            <a:ext cx="11288660" cy="3970885"/>
          </a:xfrm>
          <a:custGeom>
            <a:avLst/>
            <a:gdLst/>
            <a:ahLst/>
            <a:cxnLst/>
            <a:rect l="l" t="t" r="r" b="b"/>
            <a:pathLst>
              <a:path w="11288660" h="3970885">
                <a:moveTo>
                  <a:pt x="0" y="0"/>
                </a:moveTo>
                <a:lnTo>
                  <a:pt x="11288660" y="0"/>
                </a:lnTo>
                <a:lnTo>
                  <a:pt x="11288660" y="3970885"/>
                </a:lnTo>
                <a:lnTo>
                  <a:pt x="0" y="3970885"/>
                </a:lnTo>
                <a:lnTo>
                  <a:pt x="0" y="0"/>
                </a:lnTo>
                <a:close/>
              </a:path>
            </a:pathLst>
          </a:custGeom>
          <a:blipFill>
            <a:blip r:embed="rId6"/>
            <a:stretch>
              <a:fillRect/>
            </a:stretch>
          </a:blipFill>
        </p:spPr>
      </p:sp>
      <p:sp>
        <p:nvSpPr>
          <p:cNvPr id="6" name="TextBox 6"/>
          <p:cNvSpPr txBox="1"/>
          <p:nvPr/>
        </p:nvSpPr>
        <p:spPr>
          <a:xfrm>
            <a:off x="989152" y="1390937"/>
            <a:ext cx="16834615" cy="5595230"/>
          </a:xfrm>
          <a:prstGeom prst="rect">
            <a:avLst/>
          </a:prstGeom>
        </p:spPr>
        <p:txBody>
          <a:bodyPr lIns="0" tIns="0" rIns="0" bIns="0" rtlCol="0" anchor="t">
            <a:spAutoFit/>
          </a:bodyPr>
          <a:lstStyle/>
          <a:p>
            <a:pPr marL="690872" lvl="1" indent="-345436" algn="l">
              <a:lnSpc>
                <a:spcPts val="4479"/>
              </a:lnSpc>
              <a:buFont typeface="Arial"/>
              <a:buChar char="•"/>
            </a:pPr>
            <a:r>
              <a:rPr lang="en-US" sz="3199" b="1">
                <a:solidFill>
                  <a:srgbClr val="000000"/>
                </a:solidFill>
                <a:latin typeface="Canva Sans Bold"/>
                <a:ea typeface="Canva Sans Bold"/>
                <a:cs typeface="Canva Sans Bold"/>
                <a:sym typeface="Canva Sans Bold"/>
              </a:rPr>
              <a:t>Insertion in BST</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Initilize the current node (say, currNode or node) with root node</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Compare the key with the current node.</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Move left if the key is less than or equal to the current node value.</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Move right if the key is greater than current node value.</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Repeat steps 2 and 3 until you reach a leaf node.</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Attach the new key as a left or right child based on the comparison with the leaf node’s value.</a:t>
            </a:r>
          </a:p>
          <a:p>
            <a:pPr marL="1381745" lvl="2" indent="-460582" algn="l">
              <a:lnSpc>
                <a:spcPts val="4479"/>
              </a:lnSpc>
              <a:buFont typeface="Arial"/>
              <a:buChar char="⚬"/>
            </a:pPr>
            <a:endParaRPr lang="en-US" sz="3199" b="1">
              <a:solidFill>
                <a:srgbClr val="000000"/>
              </a:solidFill>
              <a:latin typeface="Canva Sans Bold"/>
              <a:ea typeface="Canva Sans Bold"/>
              <a:cs typeface="Canva Sans Bold"/>
              <a:sym typeface="Canva Sans Bold"/>
            </a:endParaRPr>
          </a:p>
          <a:p>
            <a:pPr algn="l">
              <a:lnSpc>
                <a:spcPts val="4479"/>
              </a:lnSpc>
            </a:pPr>
            <a:endParaRPr lang="en-US" sz="3199" b="1">
              <a:solidFill>
                <a:srgbClr val="000000"/>
              </a:solidFill>
              <a:latin typeface="Canva Sans Bold"/>
              <a:ea typeface="Canva Sans Bold"/>
              <a:cs typeface="Canva Sans Bold"/>
              <a:sym typeface="Canva Sans Bold"/>
            </a:endParaRPr>
          </a:p>
        </p:txBody>
      </p:sp>
      <p:sp>
        <p:nvSpPr>
          <p:cNvPr id="7" name="TextBox 7"/>
          <p:cNvSpPr txBox="1"/>
          <p:nvPr/>
        </p:nvSpPr>
        <p:spPr>
          <a:xfrm>
            <a:off x="3502790" y="464780"/>
            <a:ext cx="12636969" cy="563920"/>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SEARCH TREES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467064" y="1846009"/>
            <a:ext cx="11291814" cy="3839500"/>
          </a:xfrm>
          <a:custGeom>
            <a:avLst/>
            <a:gdLst/>
            <a:ahLst/>
            <a:cxnLst/>
            <a:rect l="l" t="t" r="r" b="b"/>
            <a:pathLst>
              <a:path w="11291814" h="3839500">
                <a:moveTo>
                  <a:pt x="0" y="0"/>
                </a:moveTo>
                <a:lnTo>
                  <a:pt x="11291813" y="0"/>
                </a:lnTo>
                <a:lnTo>
                  <a:pt x="11291813" y="3839500"/>
                </a:lnTo>
                <a:lnTo>
                  <a:pt x="0" y="3839500"/>
                </a:lnTo>
                <a:lnTo>
                  <a:pt x="0" y="0"/>
                </a:lnTo>
                <a:close/>
              </a:path>
            </a:pathLst>
          </a:custGeom>
          <a:blipFill>
            <a:blip r:embed="rId6"/>
            <a:stretch>
              <a:fillRect/>
            </a:stretch>
          </a:blipFill>
        </p:spPr>
      </p:sp>
      <p:sp>
        <p:nvSpPr>
          <p:cNvPr id="6" name="Freeform 6"/>
          <p:cNvSpPr/>
          <p:nvPr/>
        </p:nvSpPr>
        <p:spPr>
          <a:xfrm>
            <a:off x="6616249" y="5971259"/>
            <a:ext cx="11301259" cy="3800048"/>
          </a:xfrm>
          <a:custGeom>
            <a:avLst/>
            <a:gdLst/>
            <a:ahLst/>
            <a:cxnLst/>
            <a:rect l="l" t="t" r="r" b="b"/>
            <a:pathLst>
              <a:path w="11301259" h="3800048">
                <a:moveTo>
                  <a:pt x="0" y="0"/>
                </a:moveTo>
                <a:lnTo>
                  <a:pt x="11301259" y="0"/>
                </a:lnTo>
                <a:lnTo>
                  <a:pt x="11301259" y="3800049"/>
                </a:lnTo>
                <a:lnTo>
                  <a:pt x="0" y="3800049"/>
                </a:lnTo>
                <a:lnTo>
                  <a:pt x="0" y="0"/>
                </a:lnTo>
                <a:close/>
              </a:path>
            </a:pathLst>
          </a:custGeom>
          <a:blipFill>
            <a:blip r:embed="rId7"/>
            <a:stretch>
              <a:fillRect/>
            </a:stretch>
          </a:blipFill>
        </p:spPr>
      </p:sp>
      <p:sp>
        <p:nvSpPr>
          <p:cNvPr id="7" name="TextBox 7"/>
          <p:cNvSpPr txBox="1"/>
          <p:nvPr/>
        </p:nvSpPr>
        <p:spPr>
          <a:xfrm>
            <a:off x="3502790" y="464780"/>
            <a:ext cx="12636969" cy="1097359"/>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SEARCH TREES</a:t>
            </a:r>
          </a:p>
          <a:p>
            <a:pPr algn="ctr">
              <a:lnSpc>
                <a:spcPts val="4200"/>
              </a:lnSpc>
            </a:pPr>
            <a:r>
              <a:rPr lang="en-US" sz="4200" b="1" spc="420">
                <a:solidFill>
                  <a:srgbClr val="404040"/>
                </a:solidFill>
                <a:latin typeface="Gotham Bold"/>
                <a:ea typeface="Gotham Bold"/>
                <a:cs typeface="Gotham Bold"/>
                <a:sym typeface="Gotham Bold"/>
              </a:rPr>
              <a:t>(INSERTION)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0" y="1361309"/>
            <a:ext cx="11215360" cy="4076994"/>
          </a:xfrm>
          <a:custGeom>
            <a:avLst/>
            <a:gdLst/>
            <a:ahLst/>
            <a:cxnLst/>
            <a:rect l="l" t="t" r="r" b="b"/>
            <a:pathLst>
              <a:path w="11215360" h="4076994">
                <a:moveTo>
                  <a:pt x="0" y="0"/>
                </a:moveTo>
                <a:lnTo>
                  <a:pt x="11215360" y="0"/>
                </a:lnTo>
                <a:lnTo>
                  <a:pt x="11215360" y="4076993"/>
                </a:lnTo>
                <a:lnTo>
                  <a:pt x="0" y="4076993"/>
                </a:lnTo>
                <a:lnTo>
                  <a:pt x="0" y="0"/>
                </a:lnTo>
                <a:close/>
              </a:path>
            </a:pathLst>
          </a:custGeom>
          <a:blipFill>
            <a:blip r:embed="rId6"/>
            <a:stretch>
              <a:fillRect/>
            </a:stretch>
          </a:blipFill>
        </p:spPr>
      </p:sp>
      <p:sp>
        <p:nvSpPr>
          <p:cNvPr id="6" name="Freeform 6"/>
          <p:cNvSpPr/>
          <p:nvPr/>
        </p:nvSpPr>
        <p:spPr>
          <a:xfrm>
            <a:off x="6715259" y="5438302"/>
            <a:ext cx="11057602" cy="4453545"/>
          </a:xfrm>
          <a:custGeom>
            <a:avLst/>
            <a:gdLst/>
            <a:ahLst/>
            <a:cxnLst/>
            <a:rect l="l" t="t" r="r" b="b"/>
            <a:pathLst>
              <a:path w="11057602" h="4453545">
                <a:moveTo>
                  <a:pt x="0" y="0"/>
                </a:moveTo>
                <a:lnTo>
                  <a:pt x="11057602" y="0"/>
                </a:lnTo>
                <a:lnTo>
                  <a:pt x="11057602" y="4453545"/>
                </a:lnTo>
                <a:lnTo>
                  <a:pt x="0" y="4453545"/>
                </a:lnTo>
                <a:lnTo>
                  <a:pt x="0" y="0"/>
                </a:lnTo>
                <a:close/>
              </a:path>
            </a:pathLst>
          </a:custGeom>
          <a:blipFill>
            <a:blip r:embed="rId7"/>
            <a:stretch>
              <a:fillRect/>
            </a:stretch>
          </a:blipFill>
        </p:spPr>
      </p:sp>
      <p:sp>
        <p:nvSpPr>
          <p:cNvPr id="7" name="TextBox 7"/>
          <p:cNvSpPr txBox="1"/>
          <p:nvPr/>
        </p:nvSpPr>
        <p:spPr>
          <a:xfrm>
            <a:off x="3502790" y="464780"/>
            <a:ext cx="12636969" cy="1097359"/>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SEARCH TREES</a:t>
            </a:r>
          </a:p>
          <a:p>
            <a:pPr algn="ctr">
              <a:lnSpc>
                <a:spcPts val="4200"/>
              </a:lnSpc>
            </a:pPr>
            <a:r>
              <a:rPr lang="en-US" sz="4200" b="1" spc="420">
                <a:solidFill>
                  <a:srgbClr val="404040"/>
                </a:solidFill>
                <a:latin typeface="Gotham Bold"/>
                <a:ea typeface="Gotham Bold"/>
                <a:cs typeface="Gotham Bold"/>
                <a:sym typeface="Gotham Bold"/>
              </a:rPr>
              <a:t>(INSERTION)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028700" y="1705316"/>
            <a:ext cx="9561815" cy="5414881"/>
          </a:xfrm>
          <a:custGeom>
            <a:avLst/>
            <a:gdLst/>
            <a:ahLst/>
            <a:cxnLst/>
            <a:rect l="l" t="t" r="r" b="b"/>
            <a:pathLst>
              <a:path w="9561815" h="5414881">
                <a:moveTo>
                  <a:pt x="0" y="0"/>
                </a:moveTo>
                <a:lnTo>
                  <a:pt x="9561815" y="0"/>
                </a:lnTo>
                <a:lnTo>
                  <a:pt x="9561815" y="5414882"/>
                </a:lnTo>
                <a:lnTo>
                  <a:pt x="0" y="5414882"/>
                </a:lnTo>
                <a:lnTo>
                  <a:pt x="0" y="0"/>
                </a:lnTo>
                <a:close/>
              </a:path>
            </a:pathLst>
          </a:custGeom>
          <a:blipFill>
            <a:blip r:embed="rId6"/>
            <a:stretch>
              <a:fillRect/>
            </a:stretch>
          </a:blipFill>
        </p:spPr>
      </p:sp>
      <p:sp>
        <p:nvSpPr>
          <p:cNvPr id="6" name="Freeform 6"/>
          <p:cNvSpPr/>
          <p:nvPr/>
        </p:nvSpPr>
        <p:spPr>
          <a:xfrm>
            <a:off x="9821274" y="4686501"/>
            <a:ext cx="9000515" cy="5412270"/>
          </a:xfrm>
          <a:custGeom>
            <a:avLst/>
            <a:gdLst/>
            <a:ahLst/>
            <a:cxnLst/>
            <a:rect l="l" t="t" r="r" b="b"/>
            <a:pathLst>
              <a:path w="9000515" h="5412270">
                <a:moveTo>
                  <a:pt x="0" y="0"/>
                </a:moveTo>
                <a:lnTo>
                  <a:pt x="9000515" y="0"/>
                </a:lnTo>
                <a:lnTo>
                  <a:pt x="9000515" y="5412270"/>
                </a:lnTo>
                <a:lnTo>
                  <a:pt x="0" y="5412270"/>
                </a:lnTo>
                <a:lnTo>
                  <a:pt x="0" y="0"/>
                </a:lnTo>
                <a:close/>
              </a:path>
            </a:pathLst>
          </a:custGeom>
          <a:blipFill>
            <a:blip r:embed="rId7"/>
            <a:stretch>
              <a:fillRect/>
            </a:stretch>
          </a:blipFill>
        </p:spPr>
      </p:sp>
      <p:sp>
        <p:nvSpPr>
          <p:cNvPr id="7" name="TextBox 7"/>
          <p:cNvSpPr txBox="1"/>
          <p:nvPr/>
        </p:nvSpPr>
        <p:spPr>
          <a:xfrm>
            <a:off x="3502790" y="464780"/>
            <a:ext cx="12636969" cy="1097359"/>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SEARCH TREES</a:t>
            </a:r>
          </a:p>
          <a:p>
            <a:pPr algn="ctr">
              <a:lnSpc>
                <a:spcPts val="4200"/>
              </a:lnSpc>
            </a:pPr>
            <a:r>
              <a:rPr lang="en-US" sz="4200" b="1" spc="420">
                <a:solidFill>
                  <a:srgbClr val="404040"/>
                </a:solidFill>
                <a:latin typeface="Gotham Bold"/>
                <a:ea typeface="Gotham Bold"/>
                <a:cs typeface="Gotham Bold"/>
                <a:sym typeface="Gotham Bold"/>
              </a:rPr>
              <a:t>(SERACH OPERATION)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15354490" y="7390825"/>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502337" y="1981169"/>
            <a:ext cx="9036073" cy="5409656"/>
          </a:xfrm>
          <a:custGeom>
            <a:avLst/>
            <a:gdLst/>
            <a:ahLst/>
            <a:cxnLst/>
            <a:rect l="l" t="t" r="r" b="b"/>
            <a:pathLst>
              <a:path w="9036073" h="5409656">
                <a:moveTo>
                  <a:pt x="0" y="0"/>
                </a:moveTo>
                <a:lnTo>
                  <a:pt x="9036073" y="0"/>
                </a:lnTo>
                <a:lnTo>
                  <a:pt x="9036073" y="5409656"/>
                </a:lnTo>
                <a:lnTo>
                  <a:pt x="0" y="5409656"/>
                </a:lnTo>
                <a:lnTo>
                  <a:pt x="0" y="0"/>
                </a:lnTo>
                <a:close/>
              </a:path>
            </a:pathLst>
          </a:custGeom>
          <a:blipFill>
            <a:blip r:embed="rId6"/>
            <a:stretch>
              <a:fillRect/>
            </a:stretch>
          </a:blipFill>
        </p:spPr>
      </p:sp>
      <p:sp>
        <p:nvSpPr>
          <p:cNvPr id="6" name="Freeform 6"/>
          <p:cNvSpPr/>
          <p:nvPr/>
        </p:nvSpPr>
        <p:spPr>
          <a:xfrm>
            <a:off x="9821274" y="4965487"/>
            <a:ext cx="9104492" cy="5399175"/>
          </a:xfrm>
          <a:custGeom>
            <a:avLst/>
            <a:gdLst/>
            <a:ahLst/>
            <a:cxnLst/>
            <a:rect l="l" t="t" r="r" b="b"/>
            <a:pathLst>
              <a:path w="9104492" h="5399175">
                <a:moveTo>
                  <a:pt x="0" y="0"/>
                </a:moveTo>
                <a:lnTo>
                  <a:pt x="9104492" y="0"/>
                </a:lnTo>
                <a:lnTo>
                  <a:pt x="9104492" y="5399175"/>
                </a:lnTo>
                <a:lnTo>
                  <a:pt x="0" y="5399175"/>
                </a:lnTo>
                <a:lnTo>
                  <a:pt x="0" y="0"/>
                </a:lnTo>
                <a:close/>
              </a:path>
            </a:pathLst>
          </a:custGeom>
          <a:blipFill>
            <a:blip r:embed="rId7"/>
            <a:stretch>
              <a:fillRect/>
            </a:stretch>
          </a:blipFill>
        </p:spPr>
      </p:sp>
      <p:sp>
        <p:nvSpPr>
          <p:cNvPr id="7" name="TextBox 7"/>
          <p:cNvSpPr txBox="1"/>
          <p:nvPr/>
        </p:nvSpPr>
        <p:spPr>
          <a:xfrm>
            <a:off x="3502790" y="464780"/>
            <a:ext cx="12636969" cy="1097359"/>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SEARCH TREES</a:t>
            </a:r>
          </a:p>
          <a:p>
            <a:pPr algn="ctr">
              <a:lnSpc>
                <a:spcPts val="4200"/>
              </a:lnSpc>
            </a:pPr>
            <a:r>
              <a:rPr lang="en-US" sz="4200" b="1" spc="420">
                <a:solidFill>
                  <a:srgbClr val="404040"/>
                </a:solidFill>
                <a:latin typeface="Gotham Bold"/>
                <a:ea typeface="Gotham Bold"/>
                <a:cs typeface="Gotham Bold"/>
                <a:sym typeface="Gotham Bold"/>
              </a:rPr>
              <a:t>(SERACH OPERATION)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473596" y="3607542"/>
            <a:ext cx="11301259" cy="5184453"/>
          </a:xfrm>
          <a:custGeom>
            <a:avLst/>
            <a:gdLst/>
            <a:ahLst/>
            <a:cxnLst/>
            <a:rect l="l" t="t" r="r" b="b"/>
            <a:pathLst>
              <a:path w="11301259" h="5184453">
                <a:moveTo>
                  <a:pt x="0" y="0"/>
                </a:moveTo>
                <a:lnTo>
                  <a:pt x="11301259" y="0"/>
                </a:lnTo>
                <a:lnTo>
                  <a:pt x="11301259" y="5184452"/>
                </a:lnTo>
                <a:lnTo>
                  <a:pt x="0" y="5184452"/>
                </a:lnTo>
                <a:lnTo>
                  <a:pt x="0" y="0"/>
                </a:lnTo>
                <a:close/>
              </a:path>
            </a:pathLst>
          </a:custGeom>
          <a:blipFill>
            <a:blip r:embed="rId6"/>
            <a:stretch>
              <a:fillRect/>
            </a:stretch>
          </a:blipFill>
        </p:spPr>
      </p:sp>
      <p:sp>
        <p:nvSpPr>
          <p:cNvPr id="5" name="TextBox 5"/>
          <p:cNvSpPr txBox="1"/>
          <p:nvPr/>
        </p:nvSpPr>
        <p:spPr>
          <a:xfrm>
            <a:off x="3502790" y="464780"/>
            <a:ext cx="12636969" cy="1097359"/>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SEARCH TREES</a:t>
            </a:r>
          </a:p>
          <a:p>
            <a:pPr algn="ctr">
              <a:lnSpc>
                <a:spcPts val="4200"/>
              </a:lnSpc>
            </a:pPr>
            <a:r>
              <a:rPr lang="en-US" sz="4200" b="1" spc="420">
                <a:solidFill>
                  <a:srgbClr val="404040"/>
                </a:solidFill>
                <a:latin typeface="Gotham Bold"/>
                <a:ea typeface="Gotham Bold"/>
                <a:cs typeface="Gotham Bold"/>
                <a:sym typeface="Gotham Bold"/>
              </a:rPr>
              <a:t>(DELETION)</a:t>
            </a:r>
          </a:p>
        </p:txBody>
      </p:sp>
      <p:sp>
        <p:nvSpPr>
          <p:cNvPr id="6" name="TextBox 6"/>
          <p:cNvSpPr txBox="1"/>
          <p:nvPr/>
        </p:nvSpPr>
        <p:spPr>
          <a:xfrm>
            <a:off x="989152" y="1390937"/>
            <a:ext cx="16270148" cy="1099743"/>
          </a:xfrm>
          <a:prstGeom prst="rect">
            <a:avLst/>
          </a:prstGeom>
        </p:spPr>
        <p:txBody>
          <a:bodyPr lIns="0" tIns="0" rIns="0" bIns="0" rtlCol="0" anchor="t">
            <a:spAutoFit/>
          </a:bodyPr>
          <a:lstStyle/>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Delete a Leaf Node</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Simply, the node can be deleted by assigning null to the deleting node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620801" y="3717009"/>
            <a:ext cx="12849370" cy="5541291"/>
          </a:xfrm>
          <a:custGeom>
            <a:avLst/>
            <a:gdLst/>
            <a:ahLst/>
            <a:cxnLst/>
            <a:rect l="l" t="t" r="r" b="b"/>
            <a:pathLst>
              <a:path w="12849370" h="5541291">
                <a:moveTo>
                  <a:pt x="0" y="0"/>
                </a:moveTo>
                <a:lnTo>
                  <a:pt x="12849370" y="0"/>
                </a:lnTo>
                <a:lnTo>
                  <a:pt x="12849370" y="5541291"/>
                </a:lnTo>
                <a:lnTo>
                  <a:pt x="0" y="5541291"/>
                </a:lnTo>
                <a:lnTo>
                  <a:pt x="0" y="0"/>
                </a:lnTo>
                <a:close/>
              </a:path>
            </a:pathLst>
          </a:custGeom>
          <a:blipFill>
            <a:blip r:embed="rId6"/>
            <a:stretch>
              <a:fillRect/>
            </a:stretch>
          </a:blipFill>
        </p:spPr>
      </p:sp>
      <p:sp>
        <p:nvSpPr>
          <p:cNvPr id="5" name="TextBox 5"/>
          <p:cNvSpPr txBox="1"/>
          <p:nvPr/>
        </p:nvSpPr>
        <p:spPr>
          <a:xfrm>
            <a:off x="3502790" y="464780"/>
            <a:ext cx="12636969" cy="1097359"/>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SEARCH TREES</a:t>
            </a:r>
          </a:p>
          <a:p>
            <a:pPr algn="ctr">
              <a:lnSpc>
                <a:spcPts val="4200"/>
              </a:lnSpc>
            </a:pPr>
            <a:r>
              <a:rPr lang="en-US" sz="4200" b="1" spc="420">
                <a:solidFill>
                  <a:srgbClr val="404040"/>
                </a:solidFill>
                <a:latin typeface="Gotham Bold"/>
                <a:ea typeface="Gotham Bold"/>
                <a:cs typeface="Gotham Bold"/>
                <a:sym typeface="Gotham Bold"/>
              </a:rPr>
              <a:t>(DELETION)</a:t>
            </a:r>
          </a:p>
        </p:txBody>
      </p:sp>
      <p:sp>
        <p:nvSpPr>
          <p:cNvPr id="6" name="TextBox 6"/>
          <p:cNvSpPr txBox="1"/>
          <p:nvPr/>
        </p:nvSpPr>
        <p:spPr>
          <a:xfrm>
            <a:off x="989152" y="1390937"/>
            <a:ext cx="16270148" cy="1661679"/>
          </a:xfrm>
          <a:prstGeom prst="rect">
            <a:avLst/>
          </a:prstGeom>
        </p:spPr>
        <p:txBody>
          <a:bodyPr lIns="0" tIns="0" rIns="0" bIns="0" rtlCol="0" anchor="t">
            <a:spAutoFit/>
          </a:bodyPr>
          <a:lstStyle/>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Delete a Node with Single Child in BST</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Deleting a single child node is also simple in BST. Copy the child to the node and delete the node.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0" y="0"/>
            <a:ext cx="2933510" cy="2896175"/>
          </a:xfrm>
          <a:custGeom>
            <a:avLst/>
            <a:gdLst/>
            <a:ahLst/>
            <a:cxnLst/>
            <a:rect l="l" t="t" r="r" b="b"/>
            <a:pathLst>
              <a:path w="2933510" h="2896175">
                <a:moveTo>
                  <a:pt x="0" y="0"/>
                </a:moveTo>
                <a:lnTo>
                  <a:pt x="2933510" y="0"/>
                </a:lnTo>
                <a:lnTo>
                  <a:pt x="2933510" y="2896175"/>
                </a:lnTo>
                <a:lnTo>
                  <a:pt x="0" y="28961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551994" y="7120198"/>
            <a:ext cx="544877" cy="544877"/>
          </a:xfrm>
          <a:custGeom>
            <a:avLst/>
            <a:gdLst/>
            <a:ahLst/>
            <a:cxnLst/>
            <a:rect l="l" t="t" r="r" b="b"/>
            <a:pathLst>
              <a:path w="544877" h="544877">
                <a:moveTo>
                  <a:pt x="0" y="0"/>
                </a:moveTo>
                <a:lnTo>
                  <a:pt x="544877" y="0"/>
                </a:lnTo>
                <a:lnTo>
                  <a:pt x="544877" y="544877"/>
                </a:lnTo>
                <a:lnTo>
                  <a:pt x="0" y="544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6340701" y="5143500"/>
            <a:ext cx="11301259" cy="4803035"/>
          </a:xfrm>
          <a:custGeom>
            <a:avLst/>
            <a:gdLst/>
            <a:ahLst/>
            <a:cxnLst/>
            <a:rect l="l" t="t" r="r" b="b"/>
            <a:pathLst>
              <a:path w="11301259" h="4803035">
                <a:moveTo>
                  <a:pt x="0" y="0"/>
                </a:moveTo>
                <a:lnTo>
                  <a:pt x="11301259" y="0"/>
                </a:lnTo>
                <a:lnTo>
                  <a:pt x="11301259" y="4803035"/>
                </a:lnTo>
                <a:lnTo>
                  <a:pt x="0" y="4803035"/>
                </a:lnTo>
                <a:lnTo>
                  <a:pt x="0" y="0"/>
                </a:lnTo>
                <a:close/>
              </a:path>
            </a:pathLst>
          </a:custGeom>
          <a:blipFill>
            <a:blip r:embed="rId6"/>
            <a:stretch>
              <a:fillRect/>
            </a:stretch>
          </a:blipFill>
        </p:spPr>
      </p:sp>
      <p:sp>
        <p:nvSpPr>
          <p:cNvPr id="5" name="TextBox 5"/>
          <p:cNvSpPr txBox="1"/>
          <p:nvPr/>
        </p:nvSpPr>
        <p:spPr>
          <a:xfrm>
            <a:off x="3502790" y="464780"/>
            <a:ext cx="12636969" cy="1097359"/>
          </a:xfrm>
          <a:prstGeom prst="rect">
            <a:avLst/>
          </a:prstGeom>
        </p:spPr>
        <p:txBody>
          <a:bodyPr lIns="0" tIns="0" rIns="0" bIns="0" rtlCol="0" anchor="t">
            <a:spAutoFit/>
          </a:bodyPr>
          <a:lstStyle/>
          <a:p>
            <a:pPr algn="ctr">
              <a:lnSpc>
                <a:spcPts val="4200"/>
              </a:lnSpc>
            </a:pPr>
            <a:r>
              <a:rPr lang="en-US" sz="4200" b="1" spc="420">
                <a:solidFill>
                  <a:srgbClr val="404040"/>
                </a:solidFill>
                <a:latin typeface="Gotham Bold"/>
                <a:ea typeface="Gotham Bold"/>
                <a:cs typeface="Gotham Bold"/>
                <a:sym typeface="Gotham Bold"/>
              </a:rPr>
              <a:t>BINARY SEARCH TREES</a:t>
            </a:r>
          </a:p>
          <a:p>
            <a:pPr algn="ctr">
              <a:lnSpc>
                <a:spcPts val="4200"/>
              </a:lnSpc>
            </a:pPr>
            <a:r>
              <a:rPr lang="en-US" sz="4200" b="1" spc="420">
                <a:solidFill>
                  <a:srgbClr val="404040"/>
                </a:solidFill>
                <a:latin typeface="Gotham Bold"/>
                <a:ea typeface="Gotham Bold"/>
                <a:cs typeface="Gotham Bold"/>
                <a:sym typeface="Gotham Bold"/>
              </a:rPr>
              <a:t>(DELETION)</a:t>
            </a:r>
          </a:p>
        </p:txBody>
      </p:sp>
      <p:sp>
        <p:nvSpPr>
          <p:cNvPr id="6" name="TextBox 6"/>
          <p:cNvSpPr txBox="1"/>
          <p:nvPr/>
        </p:nvSpPr>
        <p:spPr>
          <a:xfrm>
            <a:off x="989152" y="1390937"/>
            <a:ext cx="16270148" cy="4471358"/>
          </a:xfrm>
          <a:prstGeom prst="rect">
            <a:avLst/>
          </a:prstGeom>
        </p:spPr>
        <p:txBody>
          <a:bodyPr lIns="0" tIns="0" rIns="0" bIns="0" rtlCol="0" anchor="t">
            <a:spAutoFit/>
          </a:bodyPr>
          <a:lstStyle/>
          <a:p>
            <a:pPr marL="690872" lvl="1" indent="-345436" algn="l">
              <a:lnSpc>
                <a:spcPts val="4479"/>
              </a:lnSpc>
              <a:buFont typeface="Arial"/>
              <a:buChar char="•"/>
            </a:pPr>
            <a:r>
              <a:rPr lang="en-US" sz="3199" b="1">
                <a:solidFill>
                  <a:srgbClr val="004AAD"/>
                </a:solidFill>
                <a:latin typeface="Canva Sans Bold"/>
                <a:ea typeface="Canva Sans Bold"/>
                <a:cs typeface="Canva Sans Bold"/>
                <a:sym typeface="Canva Sans Bold"/>
              </a:rPr>
              <a:t>Delete a Node with Both Children in BST</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Deleting a node with both children is not so simple. </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Have to delete the node is such a way, that the resulting tree follows the properties of a BST. </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The trick is to find the inorder successor of the node.</a:t>
            </a:r>
          </a:p>
          <a:p>
            <a:pPr marL="1381745" lvl="2" indent="-460582" algn="l">
              <a:lnSpc>
                <a:spcPts val="4479"/>
              </a:lnSpc>
              <a:buFont typeface="Arial"/>
              <a:buChar char="⚬"/>
            </a:pPr>
            <a:r>
              <a:rPr lang="en-US" sz="3199" b="1">
                <a:solidFill>
                  <a:srgbClr val="000000"/>
                </a:solidFill>
                <a:latin typeface="Canva Sans Bold"/>
                <a:ea typeface="Canva Sans Bold"/>
                <a:cs typeface="Canva Sans Bold"/>
                <a:sym typeface="Canva Sans Bold"/>
              </a:rPr>
              <a:t> Copy contents of the inorder successor to the node, and delete the inorder successor.</a:t>
            </a:r>
          </a:p>
          <a:p>
            <a:pPr algn="l">
              <a:lnSpc>
                <a:spcPts val="4479"/>
              </a:lnSpc>
            </a:pPr>
            <a:endParaRPr lang="en-US" sz="3199" b="1">
              <a:solidFill>
                <a:srgbClr val="000000"/>
              </a:solidFill>
              <a:latin typeface="Canva Sans Bold"/>
              <a:ea typeface="Canva Sans Bold"/>
              <a:cs typeface="Canva Sans Bold"/>
              <a:sym typeface="Canva Sans Bo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1489</Words>
  <Application>Microsoft Office PowerPoint</Application>
  <PresentationFormat>Custom</PresentationFormat>
  <Paragraphs>186</Paragraphs>
  <Slides>33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Gotham Bold</vt:lpstr>
      <vt:lpstr>Canva Sans</vt:lpstr>
      <vt:lpstr>Canva Sans Bold</vt:lpstr>
      <vt:lpstr>ITC Avant Garde Gothic Bold</vt:lpstr>
      <vt:lpstr>Arial</vt:lpstr>
      <vt:lpstr>Calibri</vt:lpstr>
      <vt:lpstr>ITC Avant Garde Gothic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dc:title>
  <cp:lastModifiedBy>Yovini Dharmapala</cp:lastModifiedBy>
  <cp:revision>3</cp:revision>
  <dcterms:created xsi:type="dcterms:W3CDTF">2006-08-16T00:00:00Z</dcterms:created>
  <dcterms:modified xsi:type="dcterms:W3CDTF">2024-12-12T02:41:07Z</dcterms:modified>
  <dc:identifier>DAGY_-IAHDA</dc:identifier>
</cp:coreProperties>
</file>